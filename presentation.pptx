
<file path=[Content_Types].xml><?xml version="1.0" encoding="utf-8"?>
<Types xmlns="http://schemas.openxmlformats.org/package/2006/content-types">
  <Default Extension="jpeg" ContentType="image/jpeg"/>
  <Default Extension="jpg" ContentType="image/jp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6"/>
  </p:notesMasterIdLst>
  <p:sldIdLst>
    <p:sldId id="280" r:id="rId2"/>
    <p:sldId id="301" r:id="rId3"/>
    <p:sldId id="282" r:id="rId4"/>
    <p:sldId id="287" r:id="rId5"/>
    <p:sldId id="304" r:id="rId6"/>
    <p:sldId id="300" r:id="rId7"/>
    <p:sldId id="262" r:id="rId8"/>
    <p:sldId id="302" r:id="rId9"/>
    <p:sldId id="305" r:id="rId10"/>
    <p:sldId id="292" r:id="rId11"/>
    <p:sldId id="296" r:id="rId12"/>
    <p:sldId id="295" r:id="rId13"/>
    <p:sldId id="299" r:id="rId14"/>
    <p:sldId id="303" r:id="rId1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775DCB02-9BB8-47FD-8907-85C794F793BA}" styleName="Themed Style 1 - Accent 4">
    <a:tblBg>
      <a:fillRef idx="2">
        <a:schemeClr val="accent4"/>
      </a:fillRef>
      <a:effectRef idx="1">
        <a:schemeClr val="accent4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Ref idx="1">
              <a:schemeClr val="accent4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  <a:fill>
          <a:solidFill>
            <a:schemeClr val="accent4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4"/>
            </a:lnRef>
          </a:left>
          <a:right>
            <a:lnRef idx="2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2">
              <a:schemeClr val="accent4"/>
            </a:lnRef>
          </a:top>
          <a:bottom>
            <a:lnRef idx="2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4"/>
          </a:solidFill>
        </a:fill>
      </a:tcStyle>
    </a:firstRow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284E427A-3D55-4303-BF80-6455036E1DE7}" styleName="Themed Style 1 - Accent 2">
    <a:tblBg>
      <a:fillRef idx="2">
        <a:schemeClr val="accent2"/>
      </a:fillRef>
      <a:effectRef idx="1">
        <a:schemeClr val="accent2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Ref idx="1">
              <a:schemeClr val="accent2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  <a:fill>
          <a:solidFill>
            <a:schemeClr val="accent2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2"/>
            </a:lnRef>
          </a:left>
          <a:right>
            <a:lnRef idx="2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2">
              <a:schemeClr val="accent2"/>
            </a:lnRef>
          </a:top>
          <a:bottom>
            <a:lnRef idx="2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firstRow>
  </a:tblStyle>
  <a:tblStyle styleId="{35758FB7-9AC5-4552-8A53-C91805E547FA}" styleName="Themed Style 1 - Accent 5">
    <a:tblBg>
      <a:fillRef idx="2">
        <a:schemeClr val="accent5"/>
      </a:fillRef>
      <a:effectRef idx="1">
        <a:schemeClr val="accent5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Ref idx="1">
              <a:schemeClr val="accent5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  <a:fill>
          <a:solidFill>
            <a:schemeClr val="accent5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5"/>
            </a:lnRef>
          </a:left>
          <a:right>
            <a:lnRef idx="2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2">
              <a:schemeClr val="accent5"/>
            </a:lnRef>
          </a:top>
          <a:bottom>
            <a:lnRef idx="2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5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204" autoAdjust="0"/>
    <p:restoredTop sz="94660"/>
  </p:normalViewPr>
  <p:slideViewPr>
    <p:cSldViewPr snapToGrid="0">
      <p:cViewPr varScale="1">
        <p:scale>
          <a:sx n="84" d="100"/>
          <a:sy n="84" d="100"/>
        </p:scale>
        <p:origin x="648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11DF09B-9362-4496-A2D3-B7D8BDC70495}" type="datetimeFigureOut">
              <a:rPr lang="en-IN" smtClean="0"/>
              <a:t>10-10-2026</a:t>
            </a:fld>
            <a:endParaRPr lang="en-I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74152F2-A703-4C4A-BE0E-81B0B0DCA29B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02901969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A5C63DF-5CC8-4CB2-B0B3-ACC4B2229F3A}" type="slidenum">
              <a:rPr lang="en-IN" smtClean="0"/>
              <a:t>7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38397603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47F08F-402A-A8C6-591E-52A6E463B21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1DDC382-4E41-E4AB-D29A-614CAAD7C3A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E614AF2-B21D-A481-6F2E-1ACCA5E3C6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6F3517-9500-41F0-A315-BBB928228315}" type="datetimeFigureOut">
              <a:rPr lang="en-IN" smtClean="0"/>
              <a:t>10-10-2026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F89B320-F766-B673-A91C-F592DEF670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B8B3D9A-BBF8-7F7A-B9FE-48A4FC627E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9F8866-EC91-414E-AFDF-BEF604C5822E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25666942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33E2D1-76FA-786E-B592-B339DC28CA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3561A3D-E887-602E-6BB8-4905ABC099E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52E0B2E-810B-962D-0392-6B62B10A4D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6F3517-9500-41F0-A315-BBB928228315}" type="datetimeFigureOut">
              <a:rPr lang="en-IN" smtClean="0"/>
              <a:t>10-10-2026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8A5EB46-CC20-AEA6-4541-8CCBF3F096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EE84238-E805-ECF1-1832-E6F3446881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9F8866-EC91-414E-AFDF-BEF604C5822E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80893752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C57AE8-A2A1-0789-0BAD-84B3F54F20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5C4CC90-179D-5A17-0F38-CEAA4B6293E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156EB25-E61A-943C-DBFC-C7DEE74CB8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6F3517-9500-41F0-A315-BBB928228315}" type="datetimeFigureOut">
              <a:rPr lang="en-IN" smtClean="0"/>
              <a:t>10-10-2026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9D482C4-4B87-2820-F4A9-097853B651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D50AC87-83CD-5336-7DAA-84C34AEBAB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9F8866-EC91-414E-AFDF-BEF604C5822E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69349081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BAEA17-C18E-7B71-9C5F-72393E7A82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060CE9-9082-3AA6-9D5B-E434F245698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2041065-6A2D-3BD3-865B-EDF3F49D8FF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0E0DAB8-F01E-1DAD-0104-26BE31AE158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6F3517-9500-41F0-A315-BBB928228315}" type="datetimeFigureOut">
              <a:rPr lang="en-IN" smtClean="0"/>
              <a:t>10-10-2026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6BF1290-89DF-588D-3BB6-4A6DABBCEC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9668BBB-EDB0-46E6-85F9-1F0FF1E26B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9F8866-EC91-414E-AFDF-BEF604C5822E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7577230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017C9E-881A-429B-27A8-7921815375E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E143EB2-D73F-CC2D-CF06-F0759BAF51E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DAD0F33-A6F6-E838-A0A4-FC938F2C66F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28511EA-449D-FE9F-273A-7AA272A6970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DB8D155-1D09-7E2D-5FBF-2C3F2E22FC6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5576DCFA-5647-063C-898B-E7799DD209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6F3517-9500-41F0-A315-BBB928228315}" type="datetimeFigureOut">
              <a:rPr lang="en-IN" smtClean="0"/>
              <a:t>10-10-2026</a:t>
            </a:fld>
            <a:endParaRPr lang="en-IN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6C0B8CF-1FFE-8636-6C54-632292698E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BD5A298-F96D-604A-0038-FBD2231B33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9F8866-EC91-414E-AFDF-BEF604C5822E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21219926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062765-0454-1062-5AAC-C2F3EE3260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AC10820-0DF4-0FA6-1EDE-610EAE352F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6F3517-9500-41F0-A315-BBB928228315}" type="datetimeFigureOut">
              <a:rPr lang="en-IN" smtClean="0"/>
              <a:t>10-10-2026</a:t>
            </a:fld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4B356CB-8B9E-75C4-5911-B28259B774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5FDC9D7-39D0-BD21-E370-682B49A869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9F8866-EC91-414E-AFDF-BEF604C5822E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74190587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CF1D718-A1FB-FD8A-8D8F-297AB004F2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6F3517-9500-41F0-A315-BBB928228315}" type="datetimeFigureOut">
              <a:rPr lang="en-IN" smtClean="0"/>
              <a:t>10-10-2026</a:t>
            </a:fld>
            <a:endParaRPr lang="en-I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109817D-F4F0-4C9E-C1F3-B7AECF2F02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FCCCB1E-7572-0A9F-B71E-06A8DCAA5D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9F8866-EC91-414E-AFDF-BEF604C5822E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93957624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059B3F-5B3A-2A11-F242-27322DACC6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173C86F-5215-E042-0C25-B9429912B03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F447364-7755-3BC9-A0BF-A9BF668FD80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1B991BF-90E8-26C4-37A1-DC7B8DE915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6F3517-9500-41F0-A315-BBB928228315}" type="datetimeFigureOut">
              <a:rPr lang="en-IN" smtClean="0"/>
              <a:t>10-10-2026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38ADDD3-55B4-1A4F-9EF0-6B7F69FCF5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6E41639-04E7-0B2A-DCE4-4BFEE75AB6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9F8866-EC91-414E-AFDF-BEF604C5822E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27770892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FD9799-C713-6F51-071B-AC3CBCC475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51ADCFE-4F82-AF0A-262B-A4E6EC71C57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1CF3B28-ECDB-CDD2-A432-6A303E39C88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F1D072E-A385-F977-87E2-96F725E208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6F3517-9500-41F0-A315-BBB928228315}" type="datetimeFigureOut">
              <a:rPr lang="en-IN" smtClean="0"/>
              <a:t>10-10-2026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12C02E5-BD4B-16EB-BF2D-B184065675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C95791E-791D-9264-3FAB-FE93205359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9F8866-EC91-414E-AFDF-BEF604C5822E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04570946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6C459A-229E-C50B-1981-1799C26B76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18A307A-DB11-351F-DA0D-D5C08A0AC6B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ABA1AA2-3201-6B02-E1B2-D87F0912B7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6F3517-9500-41F0-A315-BBB928228315}" type="datetimeFigureOut">
              <a:rPr lang="en-IN" smtClean="0"/>
              <a:t>10-10-2026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D19F9BD-F367-E797-A758-7851C6AB3E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6286B07-F5D7-DAF9-9E18-069275B918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9F8866-EC91-414E-AFDF-BEF604C5822E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23545167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59840211-F3B2-8B3F-8CF5-F955E27914B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D5CD5CB-616B-162E-C260-972E1714816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625AAB4-E3F0-87E7-A2CE-1E309D2E0B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6F3517-9500-41F0-A315-BBB928228315}" type="datetimeFigureOut">
              <a:rPr lang="en-IN" smtClean="0"/>
              <a:t>10-10-2026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EFA1815-3C87-4475-B6AB-8D356D1D24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2B40CC4-99E4-603B-9F96-182462BA9E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9F8866-EC91-414E-AFDF-BEF604C5822E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35131765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ABFE1CF-68AA-42F6-6D46-7DE8B2F966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E716736-850C-E630-B887-A550878D8B3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277F126-D777-91E8-98AE-9B5190D8246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66F3517-9500-41F0-A315-BBB928228315}" type="datetimeFigureOut">
              <a:rPr lang="en-IN" smtClean="0"/>
              <a:t>10-10-2026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3764C6F-E69D-0BEC-946F-8D8587A6C72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47AAF9F-1443-50CB-A4ED-F34770FB05E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49F8866-EC91-414E-AFDF-BEF604C5822E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5759259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jpg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hyperlink" Target="https://doi.org/10.1016/j.ins.2023.119159" TargetMode="External"/><Relationship Id="rId3" Type="http://schemas.openxmlformats.org/officeDocument/2006/relationships/image" Target="../media/image11.png"/><Relationship Id="rId7" Type="http://schemas.openxmlformats.org/officeDocument/2006/relationships/hyperlink" Target="https://www.mdpi.com/2079-9292/9/10/1583?utm_source=chatgpt.com" TargetMode="External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doi.org/10.1016/j.ipl.2015.11.013" TargetMode="External"/><Relationship Id="rId5" Type="http://schemas.openxmlformats.org/officeDocument/2006/relationships/hyperlink" Target="https://doi.org/10.1016/j.chb.2015.01.004" TargetMode="External"/><Relationship Id="rId4" Type="http://schemas.openxmlformats.org/officeDocument/2006/relationships/hyperlink" Target="https://doi.org/10.1609/aaai.v28i1.9095" TargetMode="Externa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jpe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7848601" y="4384104"/>
            <a:ext cx="4343399" cy="1510670"/>
          </a:xfrm>
          <a:prstGeom prst="rect">
            <a:avLst/>
          </a:prstGeom>
        </p:spPr>
        <p:txBody>
          <a:bodyPr vert="horz" wrap="square" lIns="0" tIns="78740" rIns="0" bIns="0" rtlCol="0">
            <a:spAutoFit/>
          </a:bodyPr>
          <a:lstStyle/>
          <a:p>
            <a:pPr marL="171450">
              <a:lnSpc>
                <a:spcPct val="100000"/>
              </a:lnSpc>
              <a:spcBef>
                <a:spcPts val="620"/>
              </a:spcBef>
            </a:pPr>
            <a:r>
              <a:rPr sz="2400" b="1" spc="-10" dirty="0">
                <a:solidFill>
                  <a:srgbClr val="0C0C0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Presented</a:t>
            </a:r>
            <a:r>
              <a:rPr sz="2400" b="1" spc="-80" dirty="0">
                <a:solidFill>
                  <a:srgbClr val="0C0C0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2400" b="1" spc="-25" dirty="0">
                <a:solidFill>
                  <a:srgbClr val="0C0C0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by:</a:t>
            </a:r>
            <a:endParaRPr lang="en-US" sz="2400" b="1" spc="-15" dirty="0">
              <a:solidFill>
                <a:srgbClr val="0C0C0C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171450">
              <a:spcBef>
                <a:spcPts val="620"/>
              </a:spcBef>
            </a:pPr>
            <a:r>
              <a:rPr lang="en-IN" sz="1800" i="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S Tanveer Muhammed</a:t>
            </a:r>
            <a:r>
              <a:rPr lang="en-US" sz="1800" i="0" dirty="0">
                <a:effectLst/>
                <a:latin typeface="Times New Roman" panose="02020603050405020304" pitchFamily="18" charset="0"/>
                <a:ea typeface="Arial Unicode MS" panose="020B0604020202020204" pitchFamily="34" charset="-128"/>
                <a:cs typeface="Times New Roman" panose="02020603050405020304" pitchFamily="18" charset="0"/>
              </a:rPr>
              <a:t>(</a:t>
            </a:r>
            <a:r>
              <a:rPr lang="en-IN" sz="1800" i="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192311296)</a:t>
            </a:r>
          </a:p>
          <a:p>
            <a:pPr marL="171450">
              <a:spcBef>
                <a:spcPts val="620"/>
              </a:spcBef>
            </a:pPr>
            <a:r>
              <a:rPr lang="en-US" dirty="0">
                <a:latin typeface="Times New Roman" panose="02020603050405020304" pitchFamily="18" charset="0"/>
                <a:ea typeface="Arial Unicode MS" panose="020B0604020202020204" pitchFamily="34" charset="-128"/>
                <a:cs typeface="Times New Roman" panose="02020603050405020304" pitchFamily="18" charset="0"/>
              </a:rPr>
              <a:t>SSE, SIMATS Engineering</a:t>
            </a:r>
          </a:p>
          <a:p>
            <a:pPr marL="171450">
              <a:lnSpc>
                <a:spcPct val="100000"/>
              </a:lnSpc>
              <a:spcBef>
                <a:spcPts val="620"/>
              </a:spcBef>
            </a:pPr>
            <a:endParaRPr lang="en-IN" spc="-15" dirty="0">
              <a:solidFill>
                <a:srgbClr val="0C0C0C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3" name="object 3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22651" y="0"/>
            <a:ext cx="822923" cy="914400"/>
          </a:xfrm>
          <a:prstGeom prst="rect">
            <a:avLst/>
          </a:prstGeom>
        </p:spPr>
      </p:pic>
      <p:pic>
        <p:nvPicPr>
          <p:cNvPr id="4" name="object 4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10926648" y="1"/>
            <a:ext cx="1135116" cy="914400"/>
          </a:xfrm>
          <a:prstGeom prst="rect">
            <a:avLst/>
          </a:prstGeom>
        </p:spPr>
      </p:pic>
      <p:sp>
        <p:nvSpPr>
          <p:cNvPr id="5" name="object 5"/>
          <p:cNvSpPr txBox="1">
            <a:spLocks noGrp="1"/>
          </p:cNvSpPr>
          <p:nvPr>
            <p:ph type="body" idx="1"/>
          </p:nvPr>
        </p:nvSpPr>
        <p:spPr>
          <a:xfrm>
            <a:off x="1157767" y="2158701"/>
            <a:ext cx="9968788" cy="689291"/>
          </a:xfrm>
          <a:prstGeom prst="rect">
            <a:avLst/>
          </a:prstGeom>
        </p:spPr>
        <p:txBody>
          <a:bodyPr vert="horz" wrap="square" lIns="0" tIns="133985" rIns="0" bIns="0" rtlCol="0">
            <a:spAutoFit/>
          </a:bodyPr>
          <a:lstStyle/>
          <a:p>
            <a:pPr marL="0" marR="812800" indent="0" algn="ctr">
              <a:spcBef>
                <a:spcPts val="1055"/>
              </a:spcBef>
              <a:buNone/>
            </a:pPr>
            <a:r>
              <a:rPr lang="en-US" sz="20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Sustainability Intelligence: A Data Mining and Data Warehouse Based Decision Support Web Application</a:t>
            </a:r>
          </a:p>
        </p:txBody>
      </p:sp>
      <p:sp>
        <p:nvSpPr>
          <p:cNvPr id="16" name="TextBox 5">
            <a:extLst>
              <a:ext uri="{FF2B5EF4-FFF2-40B4-BE49-F238E27FC236}">
                <a16:creationId xmlns:a16="http://schemas.microsoft.com/office/drawing/2014/main" id="{1C4114FE-5329-30D5-44AE-4D64E008A069}"/>
              </a:ext>
            </a:extLst>
          </p:cNvPr>
          <p:cNvSpPr txBox="1"/>
          <p:nvPr/>
        </p:nvSpPr>
        <p:spPr>
          <a:xfrm>
            <a:off x="845574" y="4714252"/>
            <a:ext cx="4630887" cy="19082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50000"/>
              </a:lnSpc>
              <a:tabLst>
                <a:tab pos="1769110" algn="l"/>
                <a:tab pos="3429000" algn="ctr"/>
              </a:tabLst>
            </a:pPr>
            <a:r>
              <a:rPr lang="en-US" sz="2000" b="1" dirty="0">
                <a:latin typeface="Times New Roman" panose="02020603050405020304" pitchFamily="18" charset="0"/>
                <a:ea typeface="Arial Unicode MS" panose="020B0604020202020204" pitchFamily="34" charset="-128"/>
              </a:rPr>
              <a:t>Guide By:</a:t>
            </a:r>
          </a:p>
          <a:p>
            <a:pPr>
              <a:lnSpc>
                <a:spcPct val="100000"/>
              </a:lnSpc>
              <a:tabLst>
                <a:tab pos="1769110" algn="l"/>
                <a:tab pos="3429000" algn="ctr"/>
              </a:tabLst>
            </a:pPr>
            <a:r>
              <a:rPr lang="en-US" sz="2000" b="1" dirty="0">
                <a:latin typeface="Times New Roman" panose="02020603050405020304" pitchFamily="18" charset="0"/>
                <a:ea typeface="Arial Unicode MS" panose="020B0604020202020204" pitchFamily="34" charset="-128"/>
              </a:rPr>
              <a:t>DR. Terrance Frederick Fernandez</a:t>
            </a:r>
          </a:p>
          <a:p>
            <a:pPr>
              <a:lnSpc>
                <a:spcPct val="150000"/>
              </a:lnSpc>
              <a:tabLst>
                <a:tab pos="1769110" algn="l"/>
                <a:tab pos="3429000" algn="ctr"/>
              </a:tabLst>
            </a:pPr>
            <a:r>
              <a:rPr lang="en-US" sz="2000" b="1" dirty="0">
                <a:latin typeface="Times New Roman" panose="02020603050405020304" pitchFamily="18" charset="0"/>
                <a:ea typeface="Arial Unicode MS" panose="020B0604020202020204" pitchFamily="34" charset="-128"/>
              </a:rPr>
              <a:t>Professor:</a:t>
            </a:r>
          </a:p>
          <a:p>
            <a:pPr>
              <a:tabLst>
                <a:tab pos="1769110" algn="l"/>
                <a:tab pos="3429000" algn="ctr"/>
              </a:tabLst>
            </a:pPr>
            <a:r>
              <a:rPr lang="en-US" sz="2000" dirty="0">
                <a:latin typeface="Times New Roman" panose="02020603050405020304" pitchFamily="18" charset="0"/>
                <a:ea typeface="Arial Unicode MS" panose="020B0604020202020204" pitchFamily="34" charset="-128"/>
              </a:rPr>
              <a:t>SSE, SIMATS Engineering</a:t>
            </a:r>
          </a:p>
          <a:p>
            <a:endParaRPr lang="en-IN" dirty="0"/>
          </a:p>
        </p:txBody>
      </p:sp>
      <p:pic>
        <p:nvPicPr>
          <p:cNvPr id="6" name="Picture 5" descr="SIMATS ENGINEERING —Profile">
            <a:extLst>
              <a:ext uri="{FF2B5EF4-FFF2-40B4-BE49-F238E27FC236}">
                <a16:creationId xmlns:a16="http://schemas.microsoft.com/office/drawing/2014/main" id="{0DB39B9C-6ABD-0C0C-B80E-DAA10C76F07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06012" y="727587"/>
            <a:ext cx="9155303" cy="109421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7B1C4479-4685-4E55-F9D7-6175F5CF011B}"/>
              </a:ext>
            </a:extLst>
          </p:cNvPr>
          <p:cNvSpPr txBox="1"/>
          <p:nvPr/>
        </p:nvSpPr>
        <p:spPr>
          <a:xfrm>
            <a:off x="2219185" y="3088624"/>
            <a:ext cx="768909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CSA1615-DATA WAREHOUSING AND DATA MINING</a:t>
            </a:r>
            <a:endParaRPr lang="en-IN" sz="24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circle/>
      </p:transition>
    </mc:Choice>
    <mc:Fallback xmlns="">
      <p:transition spd="slow">
        <p:circl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8E3789-13FF-A515-EF6F-25352B35F4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73685"/>
            <a:ext cx="10515600" cy="1325563"/>
          </a:xfrm>
        </p:spPr>
        <p:txBody>
          <a:bodyPr>
            <a:normAutofit/>
          </a:bodyPr>
          <a:lstStyle/>
          <a:p>
            <a:pPr algn="ctr"/>
            <a:r>
              <a:rPr lang="en-US" sz="3600" b="1" dirty="0">
                <a:solidFill>
                  <a:srgbClr val="C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ABSTRACT</a:t>
            </a:r>
            <a:endParaRPr lang="en-IN" sz="3600" b="1" dirty="0">
              <a:solidFill>
                <a:srgbClr val="C0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042129A9-C742-8D54-8417-3F6264417685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564356" y="1071550"/>
            <a:ext cx="11063288" cy="545386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lang="en-US" altLang="en-US" sz="1800" dirty="0"/>
              <a:t>Sustainability Intelligence is a data-driven web application designed to analyze household electricity consumption and promote sustainable energy usage.</a:t>
            </a: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lang="en-US" altLang="en-US" sz="1800" dirty="0"/>
              <a:t>Integrates smart meter readings, household information, weather data, and holiday records into a structured data warehouse.</a:t>
            </a: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lang="en-US" altLang="en-US" sz="1800" dirty="0"/>
              <a:t>Uses K-Means clustering and DBSCAN to identify consumption patterns and detect unusual electricity usage.</a:t>
            </a: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lang="en-US" altLang="en-US" sz="1800" dirty="0"/>
              <a:t>Applies association rule mining to discover relationships between electricity consumption and contextual factors.</a:t>
            </a: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lang="en-US" altLang="en-US" sz="1800" dirty="0"/>
              <a:t>Provides an interactive dashboard to visualize consumption trends, household clusters, and data quality metrics.</a:t>
            </a: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lang="en-US" altLang="en-US" sz="1800" dirty="0"/>
              <a:t>Estimates potential electricity savings and CO₂ emission reductions through what-if analysis.</a:t>
            </a: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lang="en-US" altLang="en-US" sz="1800" dirty="0"/>
              <a:t>Generates evidence-based energy-saving recommendations using a knowledge retrieval system.</a:t>
            </a: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lang="en-US" altLang="en-US" sz="1800" dirty="0"/>
              <a:t>Supports SDG 7, SDG 11, SDG 12, and SDG 13 by encouraging energy efficiency and responsible resource consumption.</a:t>
            </a:r>
          </a:p>
        </p:txBody>
      </p:sp>
    </p:spTree>
    <p:extLst>
      <p:ext uri="{BB962C8B-B14F-4D97-AF65-F5344CB8AC3E}">
        <p14:creationId xmlns:p14="http://schemas.microsoft.com/office/powerpoint/2010/main" val="342770797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object 3">
            <a:extLst>
              <a:ext uri="{FF2B5EF4-FFF2-40B4-BE49-F238E27FC236}">
                <a16:creationId xmlns:a16="http://schemas.microsoft.com/office/drawing/2014/main" id="{E2CF6C8C-3B52-C65C-D16C-825BDDE64493}"/>
              </a:ext>
            </a:extLst>
          </p:cNvPr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225851" y="143932"/>
            <a:ext cx="822923" cy="914400"/>
          </a:xfrm>
          <a:prstGeom prst="rect">
            <a:avLst/>
          </a:prstGeom>
        </p:spPr>
      </p:pic>
      <p:pic>
        <p:nvPicPr>
          <p:cNvPr id="7" name="object 4">
            <a:extLst>
              <a:ext uri="{FF2B5EF4-FFF2-40B4-BE49-F238E27FC236}">
                <a16:creationId xmlns:a16="http://schemas.microsoft.com/office/drawing/2014/main" id="{1558F026-9386-0E28-9F04-077F9A905E5C}"/>
              </a:ext>
            </a:extLst>
          </p:cNvPr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10831033" y="308745"/>
            <a:ext cx="1135116" cy="914400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365CF1C4-F100-1349-F04F-136BAE326DAE}"/>
              </a:ext>
            </a:extLst>
          </p:cNvPr>
          <p:cNvSpPr txBox="1"/>
          <p:nvPr/>
        </p:nvSpPr>
        <p:spPr>
          <a:xfrm>
            <a:off x="4431317" y="765945"/>
            <a:ext cx="280525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sz="3600" b="1" dirty="0">
                <a:solidFill>
                  <a:srgbClr val="C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Introduction</a:t>
            </a:r>
            <a:r>
              <a:rPr lang="en-IN" sz="3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8EFFF3E-D1C8-D397-2C55-5013AFFA8AA1}"/>
              </a:ext>
            </a:extLst>
          </p:cNvPr>
          <p:cNvSpPr txBox="1"/>
          <p:nvPr/>
        </p:nvSpPr>
        <p:spPr>
          <a:xfrm>
            <a:off x="637312" y="1700142"/>
            <a:ext cx="9899374" cy="41919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Household electricity consumption plays a significant role in energy sustainability and carbon emissions.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Smart meters generate large amounts of data that can reveal valuable consumption patterns.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Traditional monitoring methods provide limited insights into unusual usage and energy-saving opportunities.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Sustainability Intelligence uses data warehousing and data mining techniques to analyze electricity consumption.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An interactive dashboard provides actionable recommendations to improve energy efficiency and promote sustainable living.</a:t>
            </a:r>
          </a:p>
        </p:txBody>
      </p:sp>
    </p:spTree>
    <p:extLst>
      <p:ext uri="{BB962C8B-B14F-4D97-AF65-F5344CB8AC3E}">
        <p14:creationId xmlns:p14="http://schemas.microsoft.com/office/powerpoint/2010/main" val="111674752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884AC9-0B8F-306D-5208-D61ECFD18C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object 3">
            <a:extLst>
              <a:ext uri="{FF2B5EF4-FFF2-40B4-BE49-F238E27FC236}">
                <a16:creationId xmlns:a16="http://schemas.microsoft.com/office/drawing/2014/main" id="{8EAB119B-919C-6F85-00E1-BE56AA7410E3}"/>
              </a:ext>
            </a:extLst>
          </p:cNvPr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225851" y="143932"/>
            <a:ext cx="822923" cy="914400"/>
          </a:xfrm>
          <a:prstGeom prst="rect">
            <a:avLst/>
          </a:prstGeom>
        </p:spPr>
      </p:pic>
      <p:pic>
        <p:nvPicPr>
          <p:cNvPr id="7" name="object 4">
            <a:extLst>
              <a:ext uri="{FF2B5EF4-FFF2-40B4-BE49-F238E27FC236}">
                <a16:creationId xmlns:a16="http://schemas.microsoft.com/office/drawing/2014/main" id="{2E876DE2-0AE6-24C8-CA85-2167CACF23D0}"/>
              </a:ext>
            </a:extLst>
          </p:cNvPr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10831033" y="288867"/>
            <a:ext cx="1135116" cy="914400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BA52A1C2-F91B-E505-F823-EB2E8268B116}"/>
              </a:ext>
            </a:extLst>
          </p:cNvPr>
          <p:cNvSpPr txBox="1"/>
          <p:nvPr/>
        </p:nvSpPr>
        <p:spPr>
          <a:xfrm>
            <a:off x="4218925" y="976805"/>
            <a:ext cx="215956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sz="3600" dirty="0">
                <a:solidFill>
                  <a:srgbClr val="C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Objectives</a:t>
            </a:r>
            <a:endParaRPr lang="en-IN" sz="3600" b="1" dirty="0">
              <a:solidFill>
                <a:srgbClr val="C0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Rectangle 1">
            <a:extLst>
              <a:ext uri="{FF2B5EF4-FFF2-40B4-BE49-F238E27FC236}">
                <a16:creationId xmlns:a16="http://schemas.microsoft.com/office/drawing/2014/main" id="{B86B1F29-7C20-D6F8-B788-840554364448}"/>
              </a:ext>
            </a:extLst>
          </p:cNvPr>
          <p:cNvSpPr>
            <a:spLocks noChangeArrowheads="1"/>
          </p:cNvSpPr>
          <p:nvPr/>
        </p:nvSpPr>
        <p:spPr bwMode="auto">
          <a:xfrm>
            <a:off x="408713" y="1342551"/>
            <a:ext cx="7327112" cy="465364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To develop a data warehouse for storing and managing household electricity consumption data.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To identify similar consumption patterns using clustering techniques.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To discover relationships among electricity usage patterns using association rule mining.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To visualize consumption trends and sustainability metrics through an interactive dashboard.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To generate energy-saving recommendations and estimate potential CO₂ emission reductions.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4F23740-F2FE-BC8B-86F5-2E36CD1FBF6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42807" y="2048256"/>
            <a:ext cx="3840480" cy="25603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5224782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775FDC-3DF8-178F-D276-9386D020FE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IN" sz="36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LITERATURE REVIEW</a:t>
            </a:r>
          </a:p>
        </p:txBody>
      </p:sp>
      <p:graphicFrame>
        <p:nvGraphicFramePr>
          <p:cNvPr id="21" name="Content Placeholder 20">
            <a:extLst>
              <a:ext uri="{FF2B5EF4-FFF2-40B4-BE49-F238E27FC236}">
                <a16:creationId xmlns:a16="http://schemas.microsoft.com/office/drawing/2014/main" id="{DA6702DE-B8D7-5E23-0F3D-BBFEFF799B88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739425000"/>
              </p:ext>
            </p:extLst>
          </p:nvPr>
        </p:nvGraphicFramePr>
        <p:xfrm>
          <a:off x="1295399" y="1570304"/>
          <a:ext cx="9431868" cy="4351338"/>
        </p:xfrm>
        <a:graphic>
          <a:graphicData uri="http://schemas.openxmlformats.org/drawingml/2006/table">
            <a:tbl>
              <a:tblPr>
                <a:tableStyleId>{3C2FFA5D-87B4-456A-9821-1D502468CF0F}</a:tableStyleId>
              </a:tblPr>
              <a:tblGrid>
                <a:gridCol w="1571978">
                  <a:extLst>
                    <a:ext uri="{9D8B030D-6E8A-4147-A177-3AD203B41FA5}">
                      <a16:colId xmlns:a16="http://schemas.microsoft.com/office/drawing/2014/main" val="1744373548"/>
                    </a:ext>
                  </a:extLst>
                </a:gridCol>
                <a:gridCol w="1571978">
                  <a:extLst>
                    <a:ext uri="{9D8B030D-6E8A-4147-A177-3AD203B41FA5}">
                      <a16:colId xmlns:a16="http://schemas.microsoft.com/office/drawing/2014/main" val="3443793557"/>
                    </a:ext>
                  </a:extLst>
                </a:gridCol>
                <a:gridCol w="1571978">
                  <a:extLst>
                    <a:ext uri="{9D8B030D-6E8A-4147-A177-3AD203B41FA5}">
                      <a16:colId xmlns:a16="http://schemas.microsoft.com/office/drawing/2014/main" val="1396043077"/>
                    </a:ext>
                  </a:extLst>
                </a:gridCol>
                <a:gridCol w="1571978">
                  <a:extLst>
                    <a:ext uri="{9D8B030D-6E8A-4147-A177-3AD203B41FA5}">
                      <a16:colId xmlns:a16="http://schemas.microsoft.com/office/drawing/2014/main" val="223754063"/>
                    </a:ext>
                  </a:extLst>
                </a:gridCol>
                <a:gridCol w="1571978">
                  <a:extLst>
                    <a:ext uri="{9D8B030D-6E8A-4147-A177-3AD203B41FA5}">
                      <a16:colId xmlns:a16="http://schemas.microsoft.com/office/drawing/2014/main" val="4023572820"/>
                    </a:ext>
                  </a:extLst>
                </a:gridCol>
                <a:gridCol w="1571978">
                  <a:extLst>
                    <a:ext uri="{9D8B030D-6E8A-4147-A177-3AD203B41FA5}">
                      <a16:colId xmlns:a16="http://schemas.microsoft.com/office/drawing/2014/main" val="3098245183"/>
                    </a:ext>
                  </a:extLst>
                </a:gridCol>
              </a:tblGrid>
              <a:tr h="267187">
                <a:tc>
                  <a:txBody>
                    <a:bodyPr/>
                    <a:lstStyle/>
                    <a:p>
                      <a:r>
                        <a:rPr lang="en-IN" sz="12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S.No</a:t>
                      </a:r>
                    </a:p>
                  </a:txBody>
                  <a:tcPr marL="38170" marR="38170" marT="19085" marB="19085" anchor="ctr"/>
                </a:tc>
                <a:tc>
                  <a:txBody>
                    <a:bodyPr/>
                    <a:lstStyle/>
                    <a:p>
                      <a:r>
                        <a:rPr lang="en-IN" sz="12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Research Area</a:t>
                      </a:r>
                    </a:p>
                  </a:txBody>
                  <a:tcPr marL="38170" marR="38170" marT="19085" marB="19085" anchor="ctr"/>
                </a:tc>
                <a:tc>
                  <a:txBody>
                    <a:bodyPr/>
                    <a:lstStyle/>
                    <a:p>
                      <a:r>
                        <a:rPr lang="en-IN" sz="12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Author &amp; Year</a:t>
                      </a:r>
                    </a:p>
                  </a:txBody>
                  <a:tcPr marL="38170" marR="38170" marT="19085" marB="19085" anchor="ctr"/>
                </a:tc>
                <a:tc>
                  <a:txBody>
                    <a:bodyPr/>
                    <a:lstStyle/>
                    <a:p>
                      <a:r>
                        <a:rPr lang="en-IN" sz="12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Technology / Method</a:t>
                      </a:r>
                    </a:p>
                  </a:txBody>
                  <a:tcPr marL="38170" marR="38170" marT="19085" marB="19085" anchor="ctr"/>
                </a:tc>
                <a:tc>
                  <a:txBody>
                    <a:bodyPr/>
                    <a:lstStyle/>
                    <a:p>
                      <a:r>
                        <a:rPr lang="en-IN" sz="12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Key Finding</a:t>
                      </a:r>
                    </a:p>
                  </a:txBody>
                  <a:tcPr marL="38170" marR="38170" marT="19085" marB="19085" anchor="ctr"/>
                </a:tc>
                <a:tc>
                  <a:txBody>
                    <a:bodyPr/>
                    <a:lstStyle/>
                    <a:p>
                      <a:r>
                        <a:rPr lang="en-IN" sz="12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Use in Our Project</a:t>
                      </a:r>
                    </a:p>
                  </a:txBody>
                  <a:tcPr marL="38170" marR="38170" marT="19085" marB="19085" anchor="ctr"/>
                </a:tc>
                <a:extLst>
                  <a:ext uri="{0D108BD9-81ED-4DB2-BD59-A6C34878D82A}">
                    <a16:rowId xmlns:a16="http://schemas.microsoft.com/office/drawing/2014/main" val="1361957585"/>
                  </a:ext>
                </a:extLst>
              </a:tr>
              <a:tr h="839732">
                <a:tc>
                  <a:txBody>
                    <a:bodyPr/>
                    <a:lstStyle/>
                    <a:p>
                      <a:r>
                        <a:rPr lang="en-IN" sz="12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</a:p>
                  </a:txBody>
                  <a:tcPr marL="38170" marR="38170" marT="19085" marB="19085" anchor="ctr"/>
                </a:tc>
                <a:tc>
                  <a:txBody>
                    <a:bodyPr/>
                    <a:lstStyle/>
                    <a:p>
                      <a:r>
                        <a:rPr lang="en-IN" sz="12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Event Recommendation</a:t>
                      </a:r>
                    </a:p>
                  </a:txBody>
                  <a:tcPr marL="38170" marR="38170" marT="19085" marB="19085" anchor="ctr"/>
                </a:tc>
                <a:tc>
                  <a:txBody>
                    <a:bodyPr/>
                    <a:lstStyle/>
                    <a:p>
                      <a:r>
                        <a:rPr lang="en-IN" sz="12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Qiao et al., 2014</a:t>
                      </a:r>
                    </a:p>
                  </a:txBody>
                  <a:tcPr marL="38170" marR="38170" marT="19085" marB="19085" anchor="ctr"/>
                </a:tc>
                <a:tc>
                  <a:txBody>
                    <a:bodyPr/>
                    <a:lstStyle/>
                    <a:p>
                      <a:r>
                        <a:rPr lang="en-IN" sz="12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Social Network Analysis</a:t>
                      </a:r>
                    </a:p>
                  </a:txBody>
                  <a:tcPr marL="38170" marR="38170" marT="19085" marB="19085" anchor="ctr"/>
                </a:tc>
                <a:tc>
                  <a:txBody>
                    <a:bodyPr/>
                    <a:lstStyle/>
                    <a:p>
                      <a:r>
                        <a:rPr lang="en-US" sz="12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Social relationships and user preferences help recommend relevant events.</a:t>
                      </a:r>
                    </a:p>
                  </a:txBody>
                  <a:tcPr marL="38170" marR="38170" marT="19085" marB="19085" anchor="ctr"/>
                </a:tc>
                <a:tc>
                  <a:txBody>
                    <a:bodyPr/>
                    <a:lstStyle/>
                    <a:p>
                      <a:r>
                        <a:rPr lang="en-US" sz="12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Suggests activities based on user interests.</a:t>
                      </a:r>
                    </a:p>
                  </a:txBody>
                  <a:tcPr marL="38170" marR="38170" marT="19085" marB="19085" anchor="ctr"/>
                </a:tc>
                <a:extLst>
                  <a:ext uri="{0D108BD9-81ED-4DB2-BD59-A6C34878D82A}">
                    <a16:rowId xmlns:a16="http://schemas.microsoft.com/office/drawing/2014/main" val="71612111"/>
                  </a:ext>
                </a:extLst>
              </a:tr>
              <a:tr h="610714">
                <a:tc>
                  <a:txBody>
                    <a:bodyPr/>
                    <a:lstStyle/>
                    <a:p>
                      <a:r>
                        <a:rPr lang="en-IN" sz="12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</a:t>
                      </a:r>
                    </a:p>
                  </a:txBody>
                  <a:tcPr marL="38170" marR="38170" marT="19085" marB="19085" anchor="ctr"/>
                </a:tc>
                <a:tc>
                  <a:txBody>
                    <a:bodyPr/>
                    <a:lstStyle/>
                    <a:p>
                      <a:r>
                        <a:rPr lang="en-IN" sz="12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Online Communities</a:t>
                      </a:r>
                    </a:p>
                  </a:txBody>
                  <a:tcPr marL="38170" marR="38170" marT="19085" marB="19085" anchor="ctr"/>
                </a:tc>
                <a:tc>
                  <a:txBody>
                    <a:bodyPr/>
                    <a:lstStyle/>
                    <a:p>
                      <a:r>
                        <a:rPr lang="en-IN" sz="12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Malinen, 2015</a:t>
                      </a:r>
                    </a:p>
                  </a:txBody>
                  <a:tcPr marL="38170" marR="38170" marT="19085" marB="19085" anchor="ctr"/>
                </a:tc>
                <a:tc>
                  <a:txBody>
                    <a:bodyPr/>
                    <a:lstStyle/>
                    <a:p>
                      <a:r>
                        <a:rPr lang="en-IN" sz="12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Community Engagement Analysis</a:t>
                      </a:r>
                    </a:p>
                  </a:txBody>
                  <a:tcPr marL="38170" marR="38170" marT="19085" marB="19085" anchor="ctr"/>
                </a:tc>
                <a:tc>
                  <a:txBody>
                    <a:bodyPr/>
                    <a:lstStyle/>
                    <a:p>
                      <a:r>
                        <a:rPr lang="en-IN" sz="12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User participation supports active online communities.</a:t>
                      </a:r>
                    </a:p>
                  </a:txBody>
                  <a:tcPr marL="38170" marR="38170" marT="19085" marB="19085" anchor="ctr"/>
                </a:tc>
                <a:tc>
                  <a:txBody>
                    <a:bodyPr/>
                    <a:lstStyle/>
                    <a:p>
                      <a:r>
                        <a:rPr lang="en-US" sz="12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Encourages users to join and interact in activities.</a:t>
                      </a:r>
                    </a:p>
                  </a:txBody>
                  <a:tcPr marL="38170" marR="38170" marT="19085" marB="19085" anchor="ctr"/>
                </a:tc>
                <a:extLst>
                  <a:ext uri="{0D108BD9-81ED-4DB2-BD59-A6C34878D82A}">
                    <a16:rowId xmlns:a16="http://schemas.microsoft.com/office/drawing/2014/main" val="2254977889"/>
                  </a:ext>
                </a:extLst>
              </a:tr>
              <a:tr h="839732">
                <a:tc>
                  <a:txBody>
                    <a:bodyPr/>
                    <a:lstStyle/>
                    <a:p>
                      <a:r>
                        <a:rPr lang="en-IN" sz="12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</a:t>
                      </a:r>
                    </a:p>
                  </a:txBody>
                  <a:tcPr marL="38170" marR="38170" marT="19085" marB="19085" anchor="ctr"/>
                </a:tc>
                <a:tc>
                  <a:txBody>
                    <a:bodyPr/>
                    <a:lstStyle/>
                    <a:p>
                      <a:r>
                        <a:rPr lang="en-IN" sz="12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Event Recommendations</a:t>
                      </a:r>
                    </a:p>
                  </a:txBody>
                  <a:tcPr marL="38170" marR="38170" marT="19085" marB="19085" anchor="ctr"/>
                </a:tc>
                <a:tc>
                  <a:txBody>
                    <a:bodyPr/>
                    <a:lstStyle/>
                    <a:p>
                      <a:r>
                        <a:rPr lang="en-IN" sz="12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Chen &amp; Sun, 2016</a:t>
                      </a:r>
                    </a:p>
                  </a:txBody>
                  <a:tcPr marL="38170" marR="38170" marT="19085" marB="19085" anchor="ctr"/>
                </a:tc>
                <a:tc>
                  <a:txBody>
                    <a:bodyPr/>
                    <a:lstStyle/>
                    <a:p>
                      <a:r>
                        <a:rPr lang="en-IN" sz="12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Social Network Recommendation</a:t>
                      </a:r>
                    </a:p>
                  </a:txBody>
                  <a:tcPr marL="38170" marR="38170" marT="19085" marB="19085" anchor="ctr"/>
                </a:tc>
                <a:tc>
                  <a:txBody>
                    <a:bodyPr/>
                    <a:lstStyle/>
                    <a:p>
                      <a:r>
                        <a:rPr lang="en-US" sz="12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Social connections and previous attendance can improve event recommendations.</a:t>
                      </a:r>
                    </a:p>
                  </a:txBody>
                  <a:tcPr marL="38170" marR="38170" marT="19085" marB="19085" anchor="ctr"/>
                </a:tc>
                <a:tc>
                  <a:txBody>
                    <a:bodyPr/>
                    <a:lstStyle/>
                    <a:p>
                      <a:r>
                        <a:rPr lang="en-IN" sz="12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Recommends suitable activities to users.</a:t>
                      </a:r>
                    </a:p>
                  </a:txBody>
                  <a:tcPr marL="38170" marR="38170" marT="19085" marB="19085" anchor="ctr"/>
                </a:tc>
                <a:extLst>
                  <a:ext uri="{0D108BD9-81ED-4DB2-BD59-A6C34878D82A}">
                    <a16:rowId xmlns:a16="http://schemas.microsoft.com/office/drawing/2014/main" val="2357417577"/>
                  </a:ext>
                </a:extLst>
              </a:tr>
              <a:tr h="839732">
                <a:tc>
                  <a:txBody>
                    <a:bodyPr/>
                    <a:lstStyle/>
                    <a:p>
                      <a:r>
                        <a:rPr lang="en-IN" sz="12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4</a:t>
                      </a:r>
                    </a:p>
                  </a:txBody>
                  <a:tcPr marL="38170" marR="38170" marT="19085" marB="19085" anchor="ctr"/>
                </a:tc>
                <a:tc>
                  <a:txBody>
                    <a:bodyPr/>
                    <a:lstStyle/>
                    <a:p>
                      <a:r>
                        <a:rPr lang="en-IN" sz="12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Context-Aware Recommendations</a:t>
                      </a:r>
                    </a:p>
                  </a:txBody>
                  <a:tcPr marL="38170" marR="38170" marT="19085" marB="19085" anchor="ctr"/>
                </a:tc>
                <a:tc>
                  <a:txBody>
                    <a:bodyPr/>
                    <a:lstStyle/>
                    <a:p>
                      <a:r>
                        <a:rPr lang="en-IN" sz="12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Huang et al., 2020</a:t>
                      </a:r>
                    </a:p>
                  </a:txBody>
                  <a:tcPr marL="38170" marR="38170" marT="19085" marB="19085" anchor="ctr"/>
                </a:tc>
                <a:tc>
                  <a:txBody>
                    <a:bodyPr/>
                    <a:lstStyle/>
                    <a:p>
                      <a:r>
                        <a:rPr lang="en-IN" sz="12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Context-Aware Recommendation</a:t>
                      </a:r>
                    </a:p>
                  </a:txBody>
                  <a:tcPr marL="38170" marR="38170" marT="19085" marB="19085" anchor="ctr"/>
                </a:tc>
                <a:tc>
                  <a:txBody>
                    <a:bodyPr/>
                    <a:lstStyle/>
                    <a:p>
                      <a:r>
                        <a:rPr lang="en-IN" sz="12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User preferences and event context improve recommendations.</a:t>
                      </a:r>
                    </a:p>
                  </a:txBody>
                  <a:tcPr marL="38170" marR="38170" marT="19085" marB="19085" anchor="ctr"/>
                </a:tc>
                <a:tc>
                  <a:txBody>
                    <a:bodyPr/>
                    <a:lstStyle/>
                    <a:p>
                      <a:r>
                        <a:rPr lang="en-US" sz="12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Filters activities by category, date, and location.</a:t>
                      </a:r>
                    </a:p>
                  </a:txBody>
                  <a:tcPr marL="38170" marR="38170" marT="19085" marB="19085" anchor="ctr"/>
                </a:tc>
                <a:extLst>
                  <a:ext uri="{0D108BD9-81ED-4DB2-BD59-A6C34878D82A}">
                    <a16:rowId xmlns:a16="http://schemas.microsoft.com/office/drawing/2014/main" val="4176090940"/>
                  </a:ext>
                </a:extLst>
              </a:tr>
              <a:tr h="954241">
                <a:tc>
                  <a:txBody>
                    <a:bodyPr/>
                    <a:lstStyle/>
                    <a:p>
                      <a:r>
                        <a:rPr lang="en-IN" sz="12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5</a:t>
                      </a:r>
                    </a:p>
                  </a:txBody>
                  <a:tcPr marL="38170" marR="38170" marT="19085" marB="19085" anchor="ctr"/>
                </a:tc>
                <a:tc>
                  <a:txBody>
                    <a:bodyPr/>
                    <a:lstStyle/>
                    <a:p>
                      <a:r>
                        <a:rPr lang="en-IN" sz="12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Group Recommendations</a:t>
                      </a:r>
                    </a:p>
                  </a:txBody>
                  <a:tcPr marL="38170" marR="38170" marT="19085" marB="19085" anchor="ctr"/>
                </a:tc>
                <a:tc>
                  <a:txBody>
                    <a:bodyPr/>
                    <a:lstStyle/>
                    <a:p>
                      <a:r>
                        <a:rPr lang="en-IN" sz="12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2023 Research Paper</a:t>
                      </a:r>
                    </a:p>
                  </a:txBody>
                  <a:tcPr marL="38170" marR="38170" marT="19085" marB="19085" anchor="ctr"/>
                </a:tc>
                <a:tc>
                  <a:txBody>
                    <a:bodyPr/>
                    <a:lstStyle/>
                    <a:p>
                      <a:r>
                        <a:rPr lang="en-US" sz="12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Social Trust and Knowledge Propagation</a:t>
                      </a:r>
                    </a:p>
                  </a:txBody>
                  <a:tcPr marL="38170" marR="38170" marT="19085" marB="19085" anchor="ctr"/>
                </a:tc>
                <a:tc>
                  <a:txBody>
                    <a:bodyPr/>
                    <a:lstStyle/>
                    <a:p>
                      <a:r>
                        <a:rPr lang="en-US" sz="12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Group preferences and social relationships can support group recommendations.</a:t>
                      </a:r>
                    </a:p>
                  </a:txBody>
                  <a:tcPr marL="38170" marR="38170" marT="19085" marB="19085" anchor="ctr"/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Helps users discover activities for shared interests.</a:t>
                      </a:r>
                    </a:p>
                  </a:txBody>
                  <a:tcPr marL="38170" marR="38170" marT="19085" marB="19085" anchor="ctr"/>
                </a:tc>
                <a:extLst>
                  <a:ext uri="{0D108BD9-81ED-4DB2-BD59-A6C34878D82A}">
                    <a16:rowId xmlns:a16="http://schemas.microsoft.com/office/drawing/2014/main" val="3876922709"/>
                  </a:ext>
                </a:extLst>
              </a:tr>
            </a:tbl>
          </a:graphicData>
        </a:graphic>
      </p:graphicFrame>
      <p:pic>
        <p:nvPicPr>
          <p:cNvPr id="2049" name="Picture 1">
            <a:extLst>
              <a:ext uri="{FF2B5EF4-FFF2-40B4-BE49-F238E27FC236}">
                <a16:creationId xmlns:a16="http://schemas.microsoft.com/office/drawing/2014/main" id="{2A291D80-A4C6-0D4C-F536-4B260C9D90D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52400" cy="1524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0" name="Picture 2">
            <a:extLst>
              <a:ext uri="{FF2B5EF4-FFF2-40B4-BE49-F238E27FC236}">
                <a16:creationId xmlns:a16="http://schemas.microsoft.com/office/drawing/2014/main" id="{3FDD1A0C-921E-A235-67F9-27CE0C584D7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1" name="Picture 3">
            <a:extLst>
              <a:ext uri="{FF2B5EF4-FFF2-40B4-BE49-F238E27FC236}">
                <a16:creationId xmlns:a16="http://schemas.microsoft.com/office/drawing/2014/main" id="{1E99BF9F-1306-D7A0-3FE0-575E9C0C0E5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2" name="Picture 4">
            <a:extLst>
              <a:ext uri="{FF2B5EF4-FFF2-40B4-BE49-F238E27FC236}">
                <a16:creationId xmlns:a16="http://schemas.microsoft.com/office/drawing/2014/main" id="{62E3499C-5784-6AF6-4695-E0EFD3E35AD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3" name="Picture 5">
            <a:extLst>
              <a:ext uri="{FF2B5EF4-FFF2-40B4-BE49-F238E27FC236}">
                <a16:creationId xmlns:a16="http://schemas.microsoft.com/office/drawing/2014/main" id="{44FE2DC9-5033-CBC2-6D51-F823F0F081D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872875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CFB50C76-3880-B366-FAF4-3EEDF3179A9D}"/>
              </a:ext>
            </a:extLst>
          </p:cNvPr>
          <p:cNvSpPr txBox="1"/>
          <p:nvPr/>
        </p:nvSpPr>
        <p:spPr>
          <a:xfrm>
            <a:off x="1520686" y="622980"/>
            <a:ext cx="952168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Module 1:</a:t>
            </a:r>
            <a:r>
              <a:rPr lang="en-IN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Data Management &amp; Data Warehouse</a:t>
            </a:r>
            <a:endParaRPr lang="en-IN" sz="3600" dirty="0">
              <a:solidFill>
                <a:srgbClr val="C0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6" name="object 3">
            <a:extLst>
              <a:ext uri="{FF2B5EF4-FFF2-40B4-BE49-F238E27FC236}">
                <a16:creationId xmlns:a16="http://schemas.microsoft.com/office/drawing/2014/main" id="{82B0E778-0516-CDF0-76CE-CB24751C3777}"/>
              </a:ext>
            </a:extLst>
          </p:cNvPr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225851" y="143932"/>
            <a:ext cx="822923" cy="1314478"/>
          </a:xfrm>
          <a:prstGeom prst="rect">
            <a:avLst/>
          </a:prstGeom>
        </p:spPr>
      </p:pic>
      <p:pic>
        <p:nvPicPr>
          <p:cNvPr id="7" name="object 4">
            <a:extLst>
              <a:ext uri="{FF2B5EF4-FFF2-40B4-BE49-F238E27FC236}">
                <a16:creationId xmlns:a16="http://schemas.microsoft.com/office/drawing/2014/main" id="{0E40537D-EA78-FEF6-C245-28273F402704}"/>
              </a:ext>
            </a:extLst>
          </p:cNvPr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10831033" y="308745"/>
            <a:ext cx="1135116" cy="914400"/>
          </a:xfrm>
          <a:prstGeom prst="rect">
            <a:avLst/>
          </a:prstGeom>
        </p:spPr>
      </p:pic>
      <p:sp>
        <p:nvSpPr>
          <p:cNvPr id="9" name="Rectangle 2">
            <a:extLst>
              <a:ext uri="{FF2B5EF4-FFF2-40B4-BE49-F238E27FC236}">
                <a16:creationId xmlns:a16="http://schemas.microsoft.com/office/drawing/2014/main" id="{B134C527-6A0F-67DA-2233-306BBE78FAC9}"/>
              </a:ext>
            </a:extLst>
          </p:cNvPr>
          <p:cNvSpPr>
            <a:spLocks noChangeArrowheads="1"/>
          </p:cNvSpPr>
          <p:nvPr/>
        </p:nvSpPr>
        <p:spPr bwMode="auto">
          <a:xfrm rot="10800000" flipV="1">
            <a:off x="833230" y="2169438"/>
            <a:ext cx="10896600" cy="280698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Collects smart meter readings, household information, weather data, and holiday records.</a:t>
            </a: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Cleans and preprocesses data by handling missing values, duplicate records, and anomalous readings.</a:t>
            </a: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Transforms half-hourly electricity readings into hourly, daily, and monthly consumption records.</a:t>
            </a: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Stores structured data in a SQLite-based data warehouse for efficient querying and analysis.</a:t>
            </a: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Supports data aggregation and OLAP operations to analyze electricity consumption by time, household group, and tariff.</a:t>
            </a:r>
          </a:p>
        </p:txBody>
      </p:sp>
    </p:spTree>
    <p:extLst>
      <p:ext uri="{BB962C8B-B14F-4D97-AF65-F5344CB8AC3E}">
        <p14:creationId xmlns:p14="http://schemas.microsoft.com/office/powerpoint/2010/main" val="378529799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CE3BD317-D318-7BBC-3396-CE82D1F7DAAF}"/>
              </a:ext>
            </a:extLst>
          </p:cNvPr>
          <p:cNvSpPr txBox="1"/>
          <p:nvPr/>
        </p:nvSpPr>
        <p:spPr>
          <a:xfrm>
            <a:off x="1630018" y="327991"/>
            <a:ext cx="903467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Module 2:</a:t>
            </a:r>
            <a:r>
              <a:rPr lang="en-IN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Data Mining &amp; Predictive Analytics</a:t>
            </a:r>
            <a:endParaRPr lang="en-IN" sz="3600" dirty="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6" name="object 3">
            <a:extLst>
              <a:ext uri="{FF2B5EF4-FFF2-40B4-BE49-F238E27FC236}">
                <a16:creationId xmlns:a16="http://schemas.microsoft.com/office/drawing/2014/main" id="{72025164-1E7B-879A-293F-20E4853A3139}"/>
              </a:ext>
            </a:extLst>
          </p:cNvPr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194878" y="110066"/>
            <a:ext cx="822923" cy="914400"/>
          </a:xfrm>
          <a:prstGeom prst="rect">
            <a:avLst/>
          </a:prstGeom>
        </p:spPr>
      </p:pic>
      <p:pic>
        <p:nvPicPr>
          <p:cNvPr id="7" name="object 4">
            <a:extLst>
              <a:ext uri="{FF2B5EF4-FFF2-40B4-BE49-F238E27FC236}">
                <a16:creationId xmlns:a16="http://schemas.microsoft.com/office/drawing/2014/main" id="{AC2354CD-224C-4586-6130-D004CBEA0D1F}"/>
              </a:ext>
            </a:extLst>
          </p:cNvPr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10862006" y="152399"/>
            <a:ext cx="1135116" cy="914400"/>
          </a:xfrm>
          <a:prstGeom prst="rect">
            <a:avLst/>
          </a:prstGeom>
        </p:spPr>
      </p:pic>
      <p:sp>
        <p:nvSpPr>
          <p:cNvPr id="8" name="Rectangle 2">
            <a:extLst>
              <a:ext uri="{FF2B5EF4-FFF2-40B4-BE49-F238E27FC236}">
                <a16:creationId xmlns:a16="http://schemas.microsoft.com/office/drawing/2014/main" id="{4648421B-0D45-2E3F-C00D-41B4EBCD172B}"/>
              </a:ext>
            </a:extLst>
          </p:cNvPr>
          <p:cNvSpPr>
            <a:spLocks noChangeArrowheads="1"/>
          </p:cNvSpPr>
          <p:nvPr/>
        </p:nvSpPr>
        <p:spPr bwMode="auto">
          <a:xfrm rot="10800000" flipV="1">
            <a:off x="922867" y="1925224"/>
            <a:ext cx="11269133" cy="280698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Applies K-Means clustering to group households with similar electricity consumption patterns.</a:t>
            </a: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Uses DBSCAN clustering to identify unusual consumption patterns and outlier households.</a:t>
            </a: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Evaluates clustering performance using silhouette scores and the Davies–Bouldin index.</a:t>
            </a: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Implements association rule mining to discover relationships between electricity usage and factors such as season, tariff, and peak hours.</a:t>
            </a: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Analyzes household load profiles and identifies opportunities for improved energy efficiency.</a:t>
            </a:r>
          </a:p>
        </p:txBody>
      </p:sp>
    </p:spTree>
    <p:extLst>
      <p:ext uri="{BB962C8B-B14F-4D97-AF65-F5344CB8AC3E}">
        <p14:creationId xmlns:p14="http://schemas.microsoft.com/office/powerpoint/2010/main" val="311446923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55A8AF-7A82-DBFE-A390-60751A7EFB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2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Module 3:-</a:t>
            </a:r>
            <a:r>
              <a:rPr lang="en-IN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Decision Support &amp; Sustainability Dashboard</a:t>
            </a:r>
            <a:endParaRPr lang="en-IN" sz="3200" dirty="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31FDDC4-C564-D3DA-A34F-DC90B212BE2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algn="just">
              <a:lnSpc>
                <a:spcPct val="150000"/>
              </a:lnSpc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Displays electricity consumption, household statistics, and estimated CO₂ emissions through an interactive dashboard.</a:t>
            </a:r>
          </a:p>
          <a:p>
            <a:pPr algn="just">
              <a:lnSpc>
                <a:spcPct val="150000"/>
              </a:lnSpc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Visualizes consumption trends and compares household groups based on usage patterns.</a:t>
            </a:r>
          </a:p>
          <a:p>
            <a:pPr algn="just">
              <a:lnSpc>
                <a:spcPct val="150000"/>
              </a:lnSpc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Generates energy-saving recommendations using a knowledge-based retrieval system.</a:t>
            </a:r>
          </a:p>
          <a:p>
            <a:pPr algn="just">
              <a:lnSpc>
                <a:spcPct val="150000"/>
              </a:lnSpc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Estimates potential electricity savings and CO₂ emission reductions through what-if analysis.</a:t>
            </a:r>
          </a:p>
          <a:p>
            <a:pPr algn="just">
              <a:lnSpc>
                <a:spcPct val="150000"/>
              </a:lnSpc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Supports informed decision-making for energy efficiency and sustainable electricity consumption.</a:t>
            </a:r>
          </a:p>
        </p:txBody>
      </p:sp>
    </p:spTree>
    <p:extLst>
      <p:ext uri="{BB962C8B-B14F-4D97-AF65-F5344CB8AC3E}">
        <p14:creationId xmlns:p14="http://schemas.microsoft.com/office/powerpoint/2010/main" val="1242440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B89128-5671-8C7A-4CC0-726D9B32000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02026" y="257382"/>
            <a:ext cx="10031896" cy="1193731"/>
          </a:xfrm>
        </p:spPr>
        <p:txBody>
          <a:bodyPr>
            <a:normAutofit/>
          </a:bodyPr>
          <a:lstStyle/>
          <a:p>
            <a:pPr algn="ctr"/>
            <a:r>
              <a:rPr lang="en-IN" sz="36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ARCHITECTURE DIAGRAM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4BF12A8-E194-D698-7FF1-19B9D466BB4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41220" y="1129475"/>
            <a:ext cx="7571232" cy="50474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8883271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object 3">
            <a:extLst>
              <a:ext uri="{FF2B5EF4-FFF2-40B4-BE49-F238E27FC236}">
                <a16:creationId xmlns:a16="http://schemas.microsoft.com/office/drawing/2014/main" id="{35B8A977-A078-44D9-C11E-A1E3285638AC}"/>
              </a:ext>
            </a:extLst>
          </p:cNvPr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225851" y="308745"/>
            <a:ext cx="822923" cy="914400"/>
          </a:xfrm>
          <a:prstGeom prst="rect">
            <a:avLst/>
          </a:prstGeom>
        </p:spPr>
      </p:pic>
      <p:pic>
        <p:nvPicPr>
          <p:cNvPr id="5" name="object 4">
            <a:extLst>
              <a:ext uri="{FF2B5EF4-FFF2-40B4-BE49-F238E27FC236}">
                <a16:creationId xmlns:a16="http://schemas.microsoft.com/office/drawing/2014/main" id="{3956F49B-DA3A-508B-5CB7-1029961FC8B2}"/>
              </a:ext>
            </a:extLst>
          </p:cNvPr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10831033" y="308745"/>
            <a:ext cx="1135116" cy="91440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D7D895FA-67D8-E421-2314-2C742D9F04FE}"/>
              </a:ext>
            </a:extLst>
          </p:cNvPr>
          <p:cNvSpPr txBox="1"/>
          <p:nvPr/>
        </p:nvSpPr>
        <p:spPr>
          <a:xfrm>
            <a:off x="1109653" y="1352316"/>
            <a:ext cx="5047226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Project Components</a:t>
            </a:r>
          </a:p>
          <a:p>
            <a:pPr>
              <a:buFont typeface="+mj-lt"/>
              <a:buAutoNum type="arabicPeriod"/>
            </a:pP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User Management</a:t>
            </a:r>
          </a:p>
          <a:p>
            <a:pPr>
              <a:buFont typeface="+mj-lt"/>
              <a:buAutoNum type="arabicPeriod"/>
            </a:pP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Activity Management</a:t>
            </a:r>
          </a:p>
          <a:p>
            <a:pPr>
              <a:buFont typeface="+mj-lt"/>
              <a:buAutoNum type="arabicPeriod"/>
            </a:pP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Participation Management</a:t>
            </a:r>
          </a:p>
          <a:p>
            <a:pPr>
              <a:buFont typeface="+mj-lt"/>
              <a:buAutoNum type="arabicPeriod"/>
            </a:pP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Administration and Engagement</a:t>
            </a:r>
          </a:p>
          <a:p>
            <a:pPr>
              <a:buFont typeface="+mj-lt"/>
              <a:buAutoNum type="arabicPeriod"/>
            </a:pP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Notification System</a:t>
            </a:r>
          </a:p>
          <a:p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F0B0364-25E1-EC55-05E5-EBD60346229E}"/>
              </a:ext>
            </a:extLst>
          </p:cNvPr>
          <p:cNvSpPr txBox="1"/>
          <p:nvPr/>
        </p:nvSpPr>
        <p:spPr>
          <a:xfrm>
            <a:off x="7596873" y="1362292"/>
            <a:ext cx="3657600" cy="22467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Software </a:t>
            </a:r>
            <a:r>
              <a:rPr lang="fr-FR" sz="20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Requirements</a:t>
            </a:r>
            <a:endParaRPr lang="fr-FR" sz="2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buFont typeface="+mj-lt"/>
              <a:buAutoNum type="arabicPeriod"/>
            </a:pPr>
            <a:r>
              <a:rPr lang="fr-F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Frontend Technologies</a:t>
            </a:r>
          </a:p>
          <a:p>
            <a:pPr>
              <a:buFont typeface="+mj-lt"/>
              <a:buAutoNum type="arabicPeriod"/>
            </a:pPr>
            <a:r>
              <a:rPr lang="fr-F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Backend Technologies</a:t>
            </a:r>
          </a:p>
          <a:p>
            <a:pPr>
              <a:buFont typeface="+mj-lt"/>
              <a:buAutoNum type="arabicPeriod"/>
            </a:pPr>
            <a:r>
              <a:rPr lang="fr-FR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Database</a:t>
            </a:r>
            <a:endParaRPr lang="fr-FR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buFont typeface="+mj-lt"/>
              <a:buAutoNum type="arabicPeriod"/>
            </a:pPr>
            <a:r>
              <a:rPr lang="fr-F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Communication Technologies</a:t>
            </a:r>
          </a:p>
          <a:p>
            <a:pPr>
              <a:buFont typeface="+mj-lt"/>
              <a:buAutoNum type="arabicPeriod"/>
            </a:pPr>
            <a:r>
              <a:rPr lang="fr-F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Security Technologies</a:t>
            </a:r>
          </a:p>
          <a:p>
            <a:pPr marL="342900" indent="-342900" algn="just">
              <a:buFont typeface="Wingdings" panose="05000000000000000000" pitchFamily="2" charset="2"/>
              <a:buChar char="Ø"/>
            </a:pPr>
            <a:endParaRPr lang="en-IN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C5A5BE0-027F-A59B-0EA5-98AC78EE9D2C}"/>
              </a:ext>
            </a:extLst>
          </p:cNvPr>
          <p:cNvSpPr txBox="1"/>
          <p:nvPr/>
        </p:nvSpPr>
        <p:spPr>
          <a:xfrm>
            <a:off x="7452756" y="3609061"/>
            <a:ext cx="3945835" cy="22467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Hardware Requirements</a:t>
            </a:r>
          </a:p>
          <a:p>
            <a:pPr>
              <a:buFont typeface="+mj-lt"/>
              <a:buAutoNum type="arabicPeriod"/>
            </a:pPr>
            <a:r>
              <a:rPr lang="en-I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Processor</a:t>
            </a:r>
          </a:p>
          <a:p>
            <a:pPr>
              <a:buFont typeface="+mj-lt"/>
              <a:buAutoNum type="arabicPeriod"/>
            </a:pPr>
            <a:r>
              <a:rPr lang="en-I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RAM</a:t>
            </a:r>
          </a:p>
          <a:p>
            <a:pPr>
              <a:buFont typeface="+mj-lt"/>
              <a:buAutoNum type="arabicPeriod"/>
            </a:pPr>
            <a:r>
              <a:rPr lang="en-I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Storage</a:t>
            </a:r>
          </a:p>
          <a:p>
            <a:pPr>
              <a:buFont typeface="+mj-lt"/>
              <a:buAutoNum type="arabicPeriod"/>
            </a:pPr>
            <a:r>
              <a:rPr lang="en-I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Device</a:t>
            </a:r>
          </a:p>
          <a:p>
            <a:pPr>
              <a:buFont typeface="+mj-lt"/>
              <a:buAutoNum type="arabicPeriod"/>
            </a:pPr>
            <a:r>
              <a:rPr lang="en-I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Internet Connection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endParaRPr lang="en-IN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346B5FD-150E-EBB5-9DF7-53FBB05943E6}"/>
              </a:ext>
            </a:extLst>
          </p:cNvPr>
          <p:cNvSpPr txBox="1"/>
          <p:nvPr/>
        </p:nvSpPr>
        <p:spPr>
          <a:xfrm>
            <a:off x="1908314" y="417443"/>
            <a:ext cx="70866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N" sz="3600" dirty="0">
                <a:solidFill>
                  <a:srgbClr val="C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Project Component Requirements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735AC41-B6CD-04BB-0DC2-B2A8A32A3F0D}"/>
              </a:ext>
            </a:extLst>
          </p:cNvPr>
          <p:cNvSpPr txBox="1"/>
          <p:nvPr/>
        </p:nvSpPr>
        <p:spPr>
          <a:xfrm>
            <a:off x="1048774" y="3502142"/>
            <a:ext cx="4921406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Functional Requirements</a:t>
            </a:r>
          </a:p>
          <a:p>
            <a:pPr>
              <a:buFont typeface="+mj-lt"/>
              <a:buAutoNum type="arabicPeriod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User Registration and Login</a:t>
            </a:r>
          </a:p>
          <a:p>
            <a:pPr>
              <a:buFont typeface="+mj-lt"/>
              <a:buAutoNum type="arabicPeriod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Activity Creation and Management</a:t>
            </a:r>
          </a:p>
          <a:p>
            <a:pPr>
              <a:buFont typeface="+mj-lt"/>
              <a:buAutoNum type="arabicPeriod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Activity Joining and Waitlist Management</a:t>
            </a:r>
          </a:p>
          <a:p>
            <a:pPr>
              <a:buFont typeface="+mj-lt"/>
              <a:buAutoNum type="arabicPeriod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Administration and Approval</a:t>
            </a:r>
          </a:p>
          <a:p>
            <a:pPr>
              <a:buFont typeface="+mj-lt"/>
              <a:buAutoNum type="arabicPeriod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Reviews, Ratings, and Recommendations</a:t>
            </a:r>
          </a:p>
          <a:p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2308635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ENGINEER TO EXCEL&#10;&#10;AI-generated content may be incorrect.">
            <a:extLst>
              <a:ext uri="{FF2B5EF4-FFF2-40B4-BE49-F238E27FC236}">
                <a16:creationId xmlns:a16="http://schemas.microsoft.com/office/drawing/2014/main" id="{0460FFAA-45AD-4620-BF2C-87498077D26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7959" y="304800"/>
            <a:ext cx="819150" cy="914400"/>
          </a:xfrm>
          <a:prstGeom prst="rect">
            <a:avLst/>
          </a:prstGeom>
        </p:spPr>
      </p:pic>
      <p:pic>
        <p:nvPicPr>
          <p:cNvPr id="3" name="Picture 2" descr="Medicine and Technology Institute&#10;&#10;AI-generated content may be incorrect.">
            <a:extLst>
              <a:ext uri="{FF2B5EF4-FFF2-40B4-BE49-F238E27FC236}">
                <a16:creationId xmlns:a16="http://schemas.microsoft.com/office/drawing/2014/main" id="{C6C1259B-C6B1-933C-42C1-175C5C29140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19328" y="304800"/>
            <a:ext cx="1133475" cy="91440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81B4285F-F923-3F27-5984-E80A6653A476}"/>
              </a:ext>
            </a:extLst>
          </p:cNvPr>
          <p:cNvSpPr txBox="1"/>
          <p:nvPr/>
        </p:nvSpPr>
        <p:spPr>
          <a:xfrm>
            <a:off x="3957406" y="616656"/>
            <a:ext cx="60960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36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Conclusion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5893C2C-5455-57F6-7F3A-04C53FFB63A0}"/>
              </a:ext>
            </a:extLst>
          </p:cNvPr>
          <p:cNvSpPr txBox="1"/>
          <p:nvPr/>
        </p:nvSpPr>
        <p:spPr>
          <a:xfrm>
            <a:off x="762137" y="1630249"/>
            <a:ext cx="10523928" cy="44012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Provides a centralized platform for analyzing household electricity consumption.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Uses data warehousing and data mining to identify consumption patterns and unusual usage.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Presents actionable insights through an interactive sustainability dashboard.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Generates energy-saving recommendations and estimates potential CO₂ emission reductions.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Promotes responsible electricity consumption and supports sustainable energy management.</a:t>
            </a:r>
          </a:p>
        </p:txBody>
      </p:sp>
    </p:spTree>
    <p:extLst>
      <p:ext uri="{BB962C8B-B14F-4D97-AF65-F5344CB8AC3E}">
        <p14:creationId xmlns:p14="http://schemas.microsoft.com/office/powerpoint/2010/main" val="253145348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43FC05-FD81-7A40-5FBC-2CBF7A4F29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Medicine and Technology Institute&#10;&#10;AI-generated content may be incorrect.">
            <a:extLst>
              <a:ext uri="{FF2B5EF4-FFF2-40B4-BE49-F238E27FC236}">
                <a16:creationId xmlns:a16="http://schemas.microsoft.com/office/drawing/2014/main" id="{B90C28E8-ECB7-799F-CD1B-72B8A901EB7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19328" y="304800"/>
            <a:ext cx="1133475" cy="914400"/>
          </a:xfrm>
          <a:prstGeom prst="rect">
            <a:avLst/>
          </a:prstGeom>
        </p:spPr>
      </p:pic>
      <p:pic>
        <p:nvPicPr>
          <p:cNvPr id="7" name="Picture 6" descr="ENGINEER TO EXCEL&#10;&#10;AI-generated content may be incorrect.">
            <a:extLst>
              <a:ext uri="{FF2B5EF4-FFF2-40B4-BE49-F238E27FC236}">
                <a16:creationId xmlns:a16="http://schemas.microsoft.com/office/drawing/2014/main" id="{AF513F38-571D-16BB-3C03-830D64008EB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7959" y="304800"/>
            <a:ext cx="819150" cy="91440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8B53AAEE-8B31-4CAA-CBE7-C717C8143235}"/>
              </a:ext>
            </a:extLst>
          </p:cNvPr>
          <p:cNvSpPr txBox="1"/>
          <p:nvPr/>
        </p:nvSpPr>
        <p:spPr>
          <a:xfrm>
            <a:off x="4395154" y="896034"/>
            <a:ext cx="280525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sz="3600" b="1" dirty="0">
                <a:solidFill>
                  <a:srgbClr val="C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Future Scope</a:t>
            </a: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96AFAE0A-48CE-C104-8B13-7CB5180F28FA}"/>
              </a:ext>
            </a:extLst>
          </p:cNvPr>
          <p:cNvSpPr>
            <a:spLocks noChangeArrowheads="1"/>
          </p:cNvSpPr>
          <p:nvPr/>
        </p:nvSpPr>
        <p:spPr bwMode="auto">
          <a:xfrm rot="10800000" flipV="1">
            <a:off x="785998" y="2422536"/>
            <a:ext cx="10023566" cy="310854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Integrate AI-based electricity consumption forecasting.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Enable real-time monitoring through smart meter integration.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Incorporate GPS and regional energy data for location-based analysis.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Add electricity tariff integration to estimate potential cost savings.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Develop mobile applications with personalized recommendations and notifications.</a:t>
            </a:r>
          </a:p>
        </p:txBody>
      </p:sp>
    </p:spTree>
    <p:extLst>
      <p:ext uri="{BB962C8B-B14F-4D97-AF65-F5344CB8AC3E}">
        <p14:creationId xmlns:p14="http://schemas.microsoft.com/office/powerpoint/2010/main" val="118362043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87570C6C-8587-60A9-03B4-9B52D2616857}"/>
              </a:ext>
            </a:extLst>
          </p:cNvPr>
          <p:cNvSpPr txBox="1"/>
          <p:nvPr/>
        </p:nvSpPr>
        <p:spPr>
          <a:xfrm>
            <a:off x="3870187" y="1060508"/>
            <a:ext cx="3588026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3600" dirty="0">
                <a:solidFill>
                  <a:srgbClr val="C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References</a:t>
            </a:r>
          </a:p>
        </p:txBody>
      </p:sp>
      <p:pic>
        <p:nvPicPr>
          <p:cNvPr id="8" name="Picture 7" descr="ENGINEER TO EXCEL&#10;&#10;AI-generated content may be incorrect.">
            <a:extLst>
              <a:ext uri="{FF2B5EF4-FFF2-40B4-BE49-F238E27FC236}">
                <a16:creationId xmlns:a16="http://schemas.microsoft.com/office/drawing/2014/main" id="{4173A6FC-6FB6-87A0-193F-656C9B6D86F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6182" y="146108"/>
            <a:ext cx="819150" cy="914400"/>
          </a:xfrm>
          <a:prstGeom prst="rect">
            <a:avLst/>
          </a:prstGeom>
        </p:spPr>
      </p:pic>
      <p:pic>
        <p:nvPicPr>
          <p:cNvPr id="9" name="Picture 8" descr="Medicine and Technology Institute&#10;&#10;AI-generated content may be incorrect.">
            <a:extLst>
              <a:ext uri="{FF2B5EF4-FFF2-40B4-BE49-F238E27FC236}">
                <a16:creationId xmlns:a16="http://schemas.microsoft.com/office/drawing/2014/main" id="{A3B7E14F-E4A1-47DF-A780-D0C23431337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19328" y="304800"/>
            <a:ext cx="1133475" cy="914400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31F686B9-EEB3-8EA1-F203-6CAE56E95891}"/>
              </a:ext>
            </a:extLst>
          </p:cNvPr>
          <p:cNvSpPr txBox="1"/>
          <p:nvPr/>
        </p:nvSpPr>
        <p:spPr>
          <a:xfrm>
            <a:off x="665922" y="2131405"/>
            <a:ext cx="11186881" cy="32686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IN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Qiao</a:t>
            </a:r>
            <a:r>
              <a:rPr lang="en-I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et al. (2014), Event Recommendation in Event-Based Social Networks. </a:t>
            </a:r>
            <a:r>
              <a:rPr lang="en-IN" sz="2000" dirty="0">
                <a:latin typeface="Times New Roman" panose="02020603050405020304" pitchFamily="18" charset="0"/>
                <a:cs typeface="Times New Roman" panose="02020603050405020304" pitchFamily="18" charset="0"/>
                <a:hlinkClick r:id="rId4"/>
              </a:rPr>
              <a:t>Research Paper</a:t>
            </a:r>
            <a:endParaRPr lang="en-IN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I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2. </a:t>
            </a:r>
            <a:r>
              <a:rPr lang="en-IN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Malinen</a:t>
            </a:r>
            <a:r>
              <a:rPr lang="en-I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(2015), Understanding User Participation in Online Communities. </a:t>
            </a:r>
            <a:r>
              <a:rPr lang="en-IN" sz="2000" dirty="0">
                <a:latin typeface="Times New Roman" panose="02020603050405020304" pitchFamily="18" charset="0"/>
                <a:cs typeface="Times New Roman" panose="02020603050405020304" pitchFamily="18" charset="0"/>
                <a:hlinkClick r:id="rId5"/>
              </a:rPr>
              <a:t>Research Paper</a:t>
            </a:r>
            <a:endParaRPr lang="en-IN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I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3. Chen and Sun (2016), Social Event Recommendations. </a:t>
            </a:r>
            <a:r>
              <a:rPr lang="en-IN" sz="2000" dirty="0">
                <a:latin typeface="Times New Roman" panose="02020603050405020304" pitchFamily="18" charset="0"/>
                <a:cs typeface="Times New Roman" panose="02020603050405020304" pitchFamily="18" charset="0"/>
                <a:hlinkClick r:id="rId6"/>
              </a:rPr>
              <a:t>Research Paper</a:t>
            </a:r>
            <a:endParaRPr lang="en-IN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I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4. Huang et al. (2020), Context-Aware Recommendation in Event-Based Social Networks. </a:t>
            </a:r>
            <a:r>
              <a:rPr lang="en-IN" sz="2000" dirty="0">
                <a:latin typeface="Times New Roman" panose="02020603050405020304" pitchFamily="18" charset="0"/>
                <a:cs typeface="Times New Roman" panose="02020603050405020304" pitchFamily="18" charset="0"/>
                <a:hlinkClick r:id="rId7"/>
              </a:rPr>
              <a:t>Research Paper</a:t>
            </a:r>
            <a:endParaRPr lang="en-IN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I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5. Jiang et al. (2023), Event-Based Group Recommendation. </a:t>
            </a:r>
            <a:r>
              <a:rPr lang="en-IN" sz="2000" dirty="0">
                <a:latin typeface="Times New Roman" panose="02020603050405020304" pitchFamily="18" charset="0"/>
                <a:cs typeface="Times New Roman" panose="02020603050405020304" pitchFamily="18" charset="0"/>
                <a:hlinkClick r:id="rId8"/>
              </a:rPr>
              <a:t>Research Paper</a:t>
            </a:r>
            <a:endParaRPr lang="en-IN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IN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5713093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Content Placeholder 3" descr="Thank You Digital Images – Browse 100,325 Stock Photos ...">
            <a:extLst>
              <a:ext uri="{FF2B5EF4-FFF2-40B4-BE49-F238E27FC236}">
                <a16:creationId xmlns:a16="http://schemas.microsoft.com/office/drawing/2014/main" id="{B9A34C01-7A02-8CDE-2C9D-DB81A63D944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-175672" y="0"/>
            <a:ext cx="12367672" cy="69243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9687681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658</TotalTime>
  <Words>940</Words>
  <Application>Microsoft Office PowerPoint</Application>
  <PresentationFormat>Widescreen</PresentationFormat>
  <Paragraphs>130</Paragraphs>
  <Slides>14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20" baseType="lpstr">
      <vt:lpstr>Aptos</vt:lpstr>
      <vt:lpstr>Aptos Display</vt:lpstr>
      <vt:lpstr>Arial</vt:lpstr>
      <vt:lpstr>Times New Roman</vt:lpstr>
      <vt:lpstr>Wingdings</vt:lpstr>
      <vt:lpstr>Office Theme</vt:lpstr>
      <vt:lpstr>PowerPoint Presentation</vt:lpstr>
      <vt:lpstr>ABSTRACT</vt:lpstr>
      <vt:lpstr>PowerPoint Presentation</vt:lpstr>
      <vt:lpstr>PowerPoint Presentation</vt:lpstr>
      <vt:lpstr>LITERATURE REVIEW</vt:lpstr>
      <vt:lpstr>PowerPoint Presentation</vt:lpstr>
      <vt:lpstr>PowerPoint Presentation</vt:lpstr>
      <vt:lpstr>Module 3:-Decision Support &amp; Sustainability Dashboard</vt:lpstr>
      <vt:lpstr>ARCHITECTURE DIAGRAM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kiran kumar reddy</dc:creator>
  <cp:lastModifiedBy>Tanveer Muhammed S</cp:lastModifiedBy>
  <cp:revision>16</cp:revision>
  <dcterms:created xsi:type="dcterms:W3CDTF">2026-04-27T13:27:37Z</dcterms:created>
  <dcterms:modified xsi:type="dcterms:W3CDTF">2026-10-10T03:37:37Z</dcterms:modified>
</cp:coreProperties>
</file>