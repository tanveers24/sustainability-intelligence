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301" r:id="rId3"/>
    <p:sldId id="306" r:id="rId4"/>
    <p:sldId id="282" r:id="rId5"/>
    <p:sldId id="287" r:id="rId6"/>
    <p:sldId id="304" r:id="rId7"/>
    <p:sldId id="300" r:id="rId8"/>
    <p:sldId id="262" r:id="rId9"/>
    <p:sldId id="302" r:id="rId10"/>
    <p:sldId id="305" r:id="rId11"/>
    <p:sldId id="296" r:id="rId12"/>
    <p:sldId id="295" r:id="rId13"/>
    <p:sldId id="299" r:id="rId14"/>
    <p:sldId id="3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DF09B-9362-4496-A2D3-B7D8BDC7049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152F2-A703-4C4A-BE0E-81B0B0DCA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1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C63DF-5CC8-4CB2-B0B3-ACC4B2229F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76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F08F-402A-A8C6-591E-52A6E463B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DC382-4E41-E4AB-D29A-614CAAD7C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14AF2-B21D-A481-6F2E-1ACCA5E3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9B320-F766-B673-A91C-F592DEF6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B3D9A-BBF8-7F7A-B9FE-48A4FC62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66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E2D1-76FA-786E-B592-B339DC28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1A3D-E887-602E-6BB8-4905ABC09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E0B2E-810B-962D-0392-6B62B10A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EB46-CC20-AEA6-4541-8CCBF3F0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84238-E805-ECF1-1832-E6F34468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3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7AE8-A2A1-0789-0BAD-84B3F54F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4CC90-179D-5A17-0F38-CEAA4B629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6EB25-E61A-943C-DBFC-C7DEE74C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82C4-4B87-2820-F4A9-097853B6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AC87-83CD-5336-7DAA-84C34AEB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49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EA17-C18E-7B71-9C5F-72393E7A8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60CE9-9082-3AA6-9D5B-E434F2456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41065-6A2D-3BD3-865B-EDF3F49D8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0DAB8-F01E-1DAD-0104-26BE31AE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F1290-89DF-588D-3BB6-4A6DABBC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68BBB-EDB0-46E6-85F9-1F0FF1E2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7C9E-881A-429B-27A8-792181537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43EB2-D73F-CC2D-CF06-F0759BAF5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D0F33-A6F6-E838-A0A4-FC938F2C6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511EA-449D-FE9F-273A-7AA272A69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B8D155-1D09-7E2D-5FBF-2C3F2E22F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6DCFA-5647-063C-898B-E7799DD2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0B8CF-1FFE-8636-6C54-63229269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5A298-F96D-604A-0038-FBD2231B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19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2765-0454-1062-5AAC-C2F3EE32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10820-0DF4-0FA6-1EDE-610EAE35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356CB-8B9E-75C4-5911-B28259B7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DC9D7-39D0-BD21-E370-682B49A8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90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1D718-A1FB-FD8A-8D8F-297AB004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9817D-F4F0-4C9E-C1F3-B7AECF2F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CCB1E-7572-0A9F-B71E-06A8DCAA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57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9B3F-5B3A-2A11-F242-27322DAC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C86F-5215-E042-0C25-B9429912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47364-7755-3BC9-A0BF-A9BF668FD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991BF-90E8-26C4-37A1-DC7B8DE9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ADDD3-55B4-1A4F-9EF0-6B7F69FC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41639-04E7-0B2A-DCE4-4BFEE75A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70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D9799-C713-6F51-071B-AC3CBCC4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DCFE-4F82-AF0A-262B-A4E6EC71C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F3B28-ECDB-CDD2-A432-6A303E39C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D072E-A385-F977-87E2-96F725E2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C02E5-BD4B-16EB-BF2D-B184065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5791E-791D-9264-3FAB-FE932053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70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459A-229E-C50B-1981-1799C26B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A307A-DB11-351F-DA0D-D5C08A0AC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1AA2-3201-6B02-E1B2-D87F0912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9F9BD-F367-E797-A758-7851C6AB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86B07-F5D7-DAF9-9E18-069275B9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45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40211-F3B2-8B3F-8CF5-F955E2791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CD5CB-616B-162E-C260-972E17148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5AAB4-E3F0-87E7-A2CE-1E309D2E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A1815-3C87-4475-B6AB-8D356D1D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0CC4-99E4-603B-9F96-182462BA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31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FE1CF-68AA-42F6-6D46-7DE8B2F96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6736-850C-E630-B887-A550878D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7F126-D777-91E8-98AE-9B5190D82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F3517-9500-41F0-A315-BBB92822831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64C6F-E69D-0BEC-946F-8D8587A6C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AAF9F-1443-50CB-A4ED-F34770FB0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F8866-EC91-414E-AFDF-BEF604C58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9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8601" y="4384104"/>
            <a:ext cx="4343399" cy="15106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400" b="1" spc="-15" dirty="0">
              <a:solidFill>
                <a:srgbClr val="0C0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620"/>
              </a:spcBef>
            </a:pPr>
            <a:r>
              <a:rPr lang="en-I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Tanveer Muhammed</a:t>
            </a:r>
            <a:r>
              <a:rPr lang="en-US" sz="1800" i="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(</a:t>
            </a:r>
            <a:r>
              <a:rPr lang="en-I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192311296)</a:t>
            </a:r>
          </a:p>
          <a:p>
            <a:pPr marL="171450">
              <a:spcBef>
                <a:spcPts val="620"/>
              </a:spcBef>
            </a:pPr>
            <a:r>
              <a:rPr lang="en-US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SSE, SIMATS Engineering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endParaRPr lang="en-IN" spc="-15" dirty="0">
              <a:solidFill>
                <a:srgbClr val="0C0C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51" y="0"/>
            <a:ext cx="822923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6648" y="1"/>
            <a:ext cx="1135116" cy="914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157767" y="2158701"/>
            <a:ext cx="9968788" cy="689291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spcBef>
                <a:spcPts val="1055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Intelligence: A Data Mining and Data Warehouse Based Decision Support Web Application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1C4114FE-5329-30D5-44AE-4D64E008A069}"/>
              </a:ext>
            </a:extLst>
          </p:cNvPr>
          <p:cNvSpPr txBox="1"/>
          <p:nvPr/>
        </p:nvSpPr>
        <p:spPr>
          <a:xfrm>
            <a:off x="845574" y="4714252"/>
            <a:ext cx="463088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tabLst>
                <a:tab pos="1769110" algn="l"/>
                <a:tab pos="3429000" algn="ctr"/>
              </a:tabLst>
            </a:pPr>
            <a:r>
              <a:rPr 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Guide By:</a:t>
            </a:r>
          </a:p>
          <a:p>
            <a:pPr>
              <a:lnSpc>
                <a:spcPct val="100000"/>
              </a:lnSpc>
              <a:tabLst>
                <a:tab pos="1769110" algn="l"/>
                <a:tab pos="3429000" algn="ctr"/>
              </a:tabLst>
            </a:pPr>
            <a:r>
              <a:rPr 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DR. Terrance Frederick Fernandez</a:t>
            </a:r>
          </a:p>
          <a:p>
            <a:pPr>
              <a:lnSpc>
                <a:spcPct val="150000"/>
              </a:lnSpc>
              <a:tabLst>
                <a:tab pos="1769110" algn="l"/>
                <a:tab pos="3429000" algn="ctr"/>
              </a:tabLst>
            </a:pPr>
            <a:r>
              <a:rPr 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Professor:</a:t>
            </a:r>
          </a:p>
          <a:p>
            <a:pPr>
              <a:tabLst>
                <a:tab pos="1769110" algn="l"/>
                <a:tab pos="3429000" algn="ctr"/>
              </a:tabLst>
            </a:pPr>
            <a:r>
              <a:rPr lang="en-US" sz="2000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SSE, SIMATS Engineering</a:t>
            </a:r>
          </a:p>
          <a:p>
            <a:endParaRPr lang="en-IN" dirty="0"/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0DB39B9C-6ABD-0C0C-B80E-DAA10C76F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12" y="727587"/>
            <a:ext cx="9155303" cy="109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1C4479-4685-4E55-F9D7-6175F5CF011B}"/>
              </a:ext>
            </a:extLst>
          </p:cNvPr>
          <p:cNvSpPr txBox="1"/>
          <p:nvPr/>
        </p:nvSpPr>
        <p:spPr>
          <a:xfrm>
            <a:off x="2219185" y="3088624"/>
            <a:ext cx="768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CSA1615-DATA WAREHOUSING AND DATA MINING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3789-13FF-A515-EF6F-25352B35F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2129A9-C742-8D54-8417-3F62644176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4356" y="1699702"/>
            <a:ext cx="11063288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Intelligence is a data-driven web application designed to analyze household electricity consumption and promote sustainable energy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smart meter readings, household information, weather data, and holiday records into a structured data warehouse.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K-Means clustering and DBSCAN to identify consumption patterns and detect unusual electricity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association rule mining to discover relationships between electricity consumption and contextual factors.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potential electricity savings and CO₂ emission reductions through what-if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evidence-based energy-saving recommendations using a knowledge retrieval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7, SDG 11, SDG 12, and SDG 13 by encouraging energy efficiency and responsible resource consumption.</a:t>
            </a:r>
          </a:p>
        </p:txBody>
      </p:sp>
    </p:spTree>
    <p:extLst>
      <p:ext uri="{BB962C8B-B14F-4D97-AF65-F5344CB8AC3E}">
        <p14:creationId xmlns:p14="http://schemas.microsoft.com/office/powerpoint/2010/main" val="342770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0FDBF-D87A-CDB4-C043-1101185D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254E-15ED-6331-7829-B9207782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Goals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E61C1D-9AC7-65EE-9E22-73CCF3F40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4356" y="1292507"/>
            <a:ext cx="11063288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7 – Affordable and Clean Energy: Optimizes energy efficiency by identifying consumption patterns and encouraging demand shifting to reduce peak electricity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Communities: Supports sustainable urban planning through community-level energy analysis and targeted grid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and Production: Promotes responsible energy consumption using behavioral pattern mining and personalized energy-saving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13 – Climate Action: Quantifies potential carbon emission reductions through data-driven energy interventions and policy impact simulations.</a:t>
            </a:r>
          </a:p>
        </p:txBody>
      </p:sp>
    </p:spTree>
    <p:extLst>
      <p:ext uri="{BB962C8B-B14F-4D97-AF65-F5344CB8AC3E}">
        <p14:creationId xmlns:p14="http://schemas.microsoft.com/office/powerpoint/2010/main" val="131920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3">
            <a:extLst>
              <a:ext uri="{FF2B5EF4-FFF2-40B4-BE49-F238E27FC236}">
                <a16:creationId xmlns:a16="http://schemas.microsoft.com/office/drawing/2014/main" id="{E2CF6C8C-3B52-C65C-D16C-825BDDE644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851" y="143932"/>
            <a:ext cx="822923" cy="91440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1558F026-9386-0E28-9F04-077F9A905E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1033" y="308745"/>
            <a:ext cx="1135116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5CF1C4-F100-1349-F04F-136BAE326DAE}"/>
              </a:ext>
            </a:extLst>
          </p:cNvPr>
          <p:cNvSpPr txBox="1"/>
          <p:nvPr/>
        </p:nvSpPr>
        <p:spPr>
          <a:xfrm>
            <a:off x="4431317" y="765945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FFF3E-D1C8-D397-2C55-5013AFFA8AA1}"/>
              </a:ext>
            </a:extLst>
          </p:cNvPr>
          <p:cNvSpPr txBox="1"/>
          <p:nvPr/>
        </p:nvSpPr>
        <p:spPr>
          <a:xfrm>
            <a:off x="637312" y="1700142"/>
            <a:ext cx="9899374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electricity consumption plays a significant role in energy sustainability and carbon emissions.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meters generate large amounts of data that can reveal valuable consumption patterns.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provide limited insights into unusual usage and energy-saving opportunities.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Intelligence uses data warehousing and data mining techniques to analyze electricity consumption.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dashboard provides actionable recommendations to improve energy efficiency and promote sustainable living.</a:t>
            </a:r>
          </a:p>
        </p:txBody>
      </p:sp>
    </p:spTree>
    <p:extLst>
      <p:ext uri="{BB962C8B-B14F-4D97-AF65-F5344CB8AC3E}">
        <p14:creationId xmlns:p14="http://schemas.microsoft.com/office/powerpoint/2010/main" val="111674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4AC9-0B8F-306D-5208-D61ECFD1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3">
            <a:extLst>
              <a:ext uri="{FF2B5EF4-FFF2-40B4-BE49-F238E27FC236}">
                <a16:creationId xmlns:a16="http://schemas.microsoft.com/office/drawing/2014/main" id="{8EAB119B-919C-6F85-00E1-BE56AA7410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851" y="143932"/>
            <a:ext cx="822923" cy="91440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2E876DE2-0AE6-24C8-CA85-2167CACF23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1033" y="288867"/>
            <a:ext cx="1135116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52A1C2-F91B-E505-F823-EB2E8268B116}"/>
              </a:ext>
            </a:extLst>
          </p:cNvPr>
          <p:cNvSpPr txBox="1"/>
          <p:nvPr/>
        </p:nvSpPr>
        <p:spPr>
          <a:xfrm>
            <a:off x="4218925" y="766493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6B1F29-7C20-D6F8-B788-840554364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13" y="1342551"/>
            <a:ext cx="7080223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data warehouse for storing and managing household electricity consumption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similar consumption patterns using clustering techniques.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discover relationships among electricity usage patterns using association rule mining.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consumption trends and sustainability metrics through an interactive dashboard.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energy-saving recommendations and estimate potential CO₂ emission reductions.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23740-F2FE-BC8B-86F5-2E36CD1FB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048256"/>
            <a:ext cx="4294351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7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5FDC-3DF8-178F-D276-9386D020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DA6702DE-B8D7-5E23-0F3D-BBFEFF799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275144"/>
              </p:ext>
            </p:extLst>
          </p:nvPr>
        </p:nvGraphicFramePr>
        <p:xfrm>
          <a:off x="641604" y="1359992"/>
          <a:ext cx="10908792" cy="535846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744373548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3443793557"/>
                    </a:ext>
                  </a:extLst>
                </a:gridCol>
                <a:gridCol w="1479804">
                  <a:extLst>
                    <a:ext uri="{9D8B030D-6E8A-4147-A177-3AD203B41FA5}">
                      <a16:colId xmlns:a16="http://schemas.microsoft.com/office/drawing/2014/main" val="1396043077"/>
                    </a:ext>
                  </a:extLst>
                </a:gridCol>
                <a:gridCol w="2113788">
                  <a:extLst>
                    <a:ext uri="{9D8B030D-6E8A-4147-A177-3AD203B41FA5}">
                      <a16:colId xmlns:a16="http://schemas.microsoft.com/office/drawing/2014/main" val="223754063"/>
                    </a:ext>
                  </a:extLst>
                </a:gridCol>
                <a:gridCol w="3070860">
                  <a:extLst>
                    <a:ext uri="{9D8B030D-6E8A-4147-A177-3AD203B41FA5}">
                      <a16:colId xmlns:a16="http://schemas.microsoft.com/office/drawing/2014/main" val="4023572820"/>
                    </a:ext>
                  </a:extLst>
                </a:gridCol>
                <a:gridCol w="2580132">
                  <a:extLst>
                    <a:ext uri="{9D8B030D-6E8A-4147-A177-3AD203B41FA5}">
                      <a16:colId xmlns:a16="http://schemas.microsoft.com/office/drawing/2014/main" val="3098245183"/>
                    </a:ext>
                  </a:extLst>
                </a:gridCol>
              </a:tblGrid>
              <a:tr h="267187">
                <a:tc>
                  <a:txBody>
                    <a:bodyPr/>
                    <a:lstStyle/>
                    <a:p>
                      <a:pPr lvl="0"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Area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/ Method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in Our Project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1361957585"/>
                  </a:ext>
                </a:extLst>
              </a:tr>
              <a:tr h="839732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Electricity Load Profiling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Michalakopoulos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 Clustering,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 household load profiles helps identify consumption patterns and demand-response opportunities.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household energy personas and peak-demand patterns.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2111"/>
                  </a:ext>
                </a:extLst>
              </a:tr>
              <a:tr h="610714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Smart-Grid Behavioral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Research, 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Consumption Pattern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Mining smart-meter data reveals recurring household electricity consumption behaviors.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behavioral analysis and targeted energy-saving recommendations.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977889"/>
                  </a:ext>
                </a:extLst>
              </a:tr>
              <a:tr h="839732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Energy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Association Rule Mining, 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Household characteristics and consumption patterns reveal useful relationships in electricity usage.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Apriori rules to discover energy-wasting behaviors and usage correlations.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417577"/>
                  </a:ext>
                </a:extLst>
              </a:tr>
              <a:tr h="839732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 Response and Renewable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Meters Time-Series Study,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Clustering, Demand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Smart-meter clustering helps identify flexible consumption patterns that can support renewable energy integration.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opportunities to shift electricity usage away from peak hours.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090940"/>
                  </a:ext>
                </a:extLst>
              </a:tr>
              <a:tr h="954241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Forecasting and Climate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 Mattos Neto et al.,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Extreme Learning Machine 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machine-learning models can improve electricity consumption forecasting.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research foundation for energy forecasting and data-driven policy impact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922709"/>
                  </a:ext>
                </a:extLst>
              </a:tr>
            </a:tbl>
          </a:graphicData>
        </a:graphic>
      </p:graphicFrame>
      <p:pic>
        <p:nvPicPr>
          <p:cNvPr id="2049" name="Picture 1">
            <a:extLst>
              <a:ext uri="{FF2B5EF4-FFF2-40B4-BE49-F238E27FC236}">
                <a16:creationId xmlns:a16="http://schemas.microsoft.com/office/drawing/2014/main" id="{2A291D80-A4C6-0D4C-F536-4B260C9D9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FDD1A0C-921E-A235-67F9-27CE0C584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1E99BF9F-1306-D7A0-3FE0-575E9C0C0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2E3499C-5784-6AF6-4695-E0EFD3E35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44FE2DC9-5033-CBC2-6D51-F823F0F08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B50C76-3880-B366-FAF4-3EEDF3179A9D}"/>
              </a:ext>
            </a:extLst>
          </p:cNvPr>
          <p:cNvSpPr txBox="1"/>
          <p:nvPr/>
        </p:nvSpPr>
        <p:spPr>
          <a:xfrm>
            <a:off x="1520686" y="622980"/>
            <a:ext cx="9521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&amp; Data Warehouse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82B0E778-0516-CDF0-76CE-CB24751C37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851" y="143932"/>
            <a:ext cx="822923" cy="131447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0E40537D-EA78-FEF6-C245-28273F4027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1033" y="308745"/>
            <a:ext cx="1135116" cy="9144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134C527-6A0F-67DA-2233-306BBE78FA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3230" y="1525832"/>
            <a:ext cx="10896600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smart meter readings, household information, weather data, and holiday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Cleans and preprocesses data by handling missing values, duplicate records, and anomalous readings.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Transforms half-hourly electricity readings into hourly, daily, and monthly consumption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structured data in a SQLite-based data warehouse for efficient querying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 aggregation and OLAP operations to analyze electricity consumption by time, household group, and tariff.</a:t>
            </a:r>
          </a:p>
        </p:txBody>
      </p:sp>
    </p:spTree>
    <p:extLst>
      <p:ext uri="{BB962C8B-B14F-4D97-AF65-F5344CB8AC3E}">
        <p14:creationId xmlns:p14="http://schemas.microsoft.com/office/powerpoint/2010/main" val="378529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BD317-D318-7BBC-3396-CE82D1F7DAAF}"/>
              </a:ext>
            </a:extLst>
          </p:cNvPr>
          <p:cNvSpPr txBox="1"/>
          <p:nvPr/>
        </p:nvSpPr>
        <p:spPr>
          <a:xfrm>
            <a:off x="1630018" y="327991"/>
            <a:ext cx="9034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&amp; Predictive Analytics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72025164-1E7B-879A-293F-20E4853A31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878" y="110066"/>
            <a:ext cx="822923" cy="91440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C2354CD-224C-4586-6130-D004CBEA0D1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2006" y="152399"/>
            <a:ext cx="1135116" cy="91440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648421B-0D45-2E3F-C00D-41B4EBCD17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1433" y="1261655"/>
            <a:ext cx="11269133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K-Means clustering to group households with similar electricity consumption patterns.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DBSCAN clustering to identify unusual consumption patterns and outlier households.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Evaluates clustering performance using silhouette scores and the Davies–Bouldin index.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association rule mining to discover relationships between electricity usage and factors such as season, tariff, and peak hours.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household load profiles and identifies opportunities for improved energy efficiency.</a:t>
            </a:r>
          </a:p>
        </p:txBody>
      </p:sp>
    </p:spTree>
    <p:extLst>
      <p:ext uri="{BB962C8B-B14F-4D97-AF65-F5344CB8AC3E}">
        <p14:creationId xmlns:p14="http://schemas.microsoft.com/office/powerpoint/2010/main" val="311446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5A8AF-7A82-DBFE-A390-60751A7E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3:-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&amp; Sustainability Dashboard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FDDC4-C564-D3DA-A34F-DC90B212B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electricity consumption, household statistics, and estimated CO₂ emissions through an interactive dashboard.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consumption trends and compares household groups based on usage patterns.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energy-saving recommendations using a knowledge-based retrieval system.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potential electricity savings and CO₂ emission reductions through what-if analysis.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informed decision-making for energy efficiency and sustainable electricity consumption.</a:t>
            </a:r>
          </a:p>
        </p:txBody>
      </p:sp>
    </p:spTree>
    <p:extLst>
      <p:ext uri="{BB962C8B-B14F-4D97-AF65-F5344CB8AC3E}">
        <p14:creationId xmlns:p14="http://schemas.microsoft.com/office/powerpoint/2010/main" val="12424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9128-5671-8C7A-4CC0-726D9B32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026" y="257382"/>
            <a:ext cx="10031896" cy="1193731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F12A8-E194-D698-7FF1-19B9D466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20" y="1129475"/>
            <a:ext cx="7571232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3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GINEER TO EXCEL&#10;&#10;AI-generated content may be incorrect.">
            <a:extLst>
              <a:ext uri="{FF2B5EF4-FFF2-40B4-BE49-F238E27FC236}">
                <a16:creationId xmlns:a16="http://schemas.microsoft.com/office/drawing/2014/main" id="{0460FFAA-45AD-4620-BF2C-87498077D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59" y="304800"/>
            <a:ext cx="819150" cy="914400"/>
          </a:xfrm>
          <a:prstGeom prst="rect">
            <a:avLst/>
          </a:prstGeom>
        </p:spPr>
      </p:pic>
      <p:pic>
        <p:nvPicPr>
          <p:cNvPr id="3" name="Picture 2" descr="Medicine and Technology Institute&#10;&#10;AI-generated content may be incorrect.">
            <a:extLst>
              <a:ext uri="{FF2B5EF4-FFF2-40B4-BE49-F238E27FC236}">
                <a16:creationId xmlns:a16="http://schemas.microsoft.com/office/drawing/2014/main" id="{C6C1259B-C6B1-933C-42C1-175C5C291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328" y="304800"/>
            <a:ext cx="1133475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B4285F-F923-3F27-5984-E80A6653A476}"/>
              </a:ext>
            </a:extLst>
          </p:cNvPr>
          <p:cNvSpPr txBox="1"/>
          <p:nvPr/>
        </p:nvSpPr>
        <p:spPr>
          <a:xfrm>
            <a:off x="3957406" y="6166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93C2C-5455-57F6-7F3A-04C53FFB63A0}"/>
              </a:ext>
            </a:extLst>
          </p:cNvPr>
          <p:cNvSpPr txBox="1"/>
          <p:nvPr/>
        </p:nvSpPr>
        <p:spPr>
          <a:xfrm>
            <a:off x="762137" y="1630249"/>
            <a:ext cx="105239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analyzing household electricity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data warehousing and data mining to identify consumption patterns and unusual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actionable insights through an interactive sustainability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energy-saving recommendations and estimates potential CO₂ emission reductions.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responsible electricity consumption and supports sustainable energy management.</a:t>
            </a:r>
          </a:p>
        </p:txBody>
      </p:sp>
    </p:spTree>
    <p:extLst>
      <p:ext uri="{BB962C8B-B14F-4D97-AF65-F5344CB8AC3E}">
        <p14:creationId xmlns:p14="http://schemas.microsoft.com/office/powerpoint/2010/main" val="2531453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FC05-FD81-7A40-5FBC-2CBF7A4F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dicine and Technology Institute&#10;&#10;AI-generated content may be incorrect.">
            <a:extLst>
              <a:ext uri="{FF2B5EF4-FFF2-40B4-BE49-F238E27FC236}">
                <a16:creationId xmlns:a16="http://schemas.microsoft.com/office/drawing/2014/main" id="{B90C28E8-ECB7-799F-CD1B-72B8A901E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328" y="304800"/>
            <a:ext cx="1133475" cy="914400"/>
          </a:xfrm>
          <a:prstGeom prst="rect">
            <a:avLst/>
          </a:prstGeom>
        </p:spPr>
      </p:pic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AF513F38-571D-16BB-3C03-830D64008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59" y="304800"/>
            <a:ext cx="81915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3AAEE-8B31-4CAA-CBE7-C717C8143235}"/>
              </a:ext>
            </a:extLst>
          </p:cNvPr>
          <p:cNvSpPr txBox="1"/>
          <p:nvPr/>
        </p:nvSpPr>
        <p:spPr>
          <a:xfrm>
            <a:off x="4395154" y="896034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AFAE0A-48CE-C104-8B13-7CB5180F28F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0940" y="1742082"/>
            <a:ext cx="100235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AI-based electricity consumption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monitoring through smart meter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GPS and regional energy data for location-based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electricity tariff integration to estimate potential cost savings.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applications with personalized recommendations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18362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570C6C-8587-60A9-03B4-9B52D2616857}"/>
              </a:ext>
            </a:extLst>
          </p:cNvPr>
          <p:cNvSpPr txBox="1"/>
          <p:nvPr/>
        </p:nvSpPr>
        <p:spPr>
          <a:xfrm>
            <a:off x="4327387" y="850196"/>
            <a:ext cx="3588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8" name="Picture 7" descr="ENGINEER TO EXCEL&#10;&#10;AI-generated content may be incorrect.">
            <a:extLst>
              <a:ext uri="{FF2B5EF4-FFF2-40B4-BE49-F238E27FC236}">
                <a16:creationId xmlns:a16="http://schemas.microsoft.com/office/drawing/2014/main" id="{4173A6FC-6FB6-87A0-193F-656C9B6D8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82" y="146108"/>
            <a:ext cx="819150" cy="914400"/>
          </a:xfrm>
          <a:prstGeom prst="rect">
            <a:avLst/>
          </a:prstGeom>
        </p:spPr>
      </p:pic>
      <p:pic>
        <p:nvPicPr>
          <p:cNvPr id="9" name="Picture 8" descr="Medicine and Technology Institute&#10;&#10;AI-generated content may be incorrect.">
            <a:extLst>
              <a:ext uri="{FF2B5EF4-FFF2-40B4-BE49-F238E27FC236}">
                <a16:creationId xmlns:a16="http://schemas.microsoft.com/office/drawing/2014/main" id="{A3B7E14F-E4A1-47DF-A780-D0C23431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328" y="304800"/>
            <a:ext cx="1133475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F686B9-EEB3-8EA1-F203-6CAE56E95891}"/>
              </a:ext>
            </a:extLst>
          </p:cNvPr>
          <p:cNvSpPr txBox="1"/>
          <p:nvPr/>
        </p:nvSpPr>
        <p:spPr>
          <a:xfrm>
            <a:off x="611058" y="1655917"/>
            <a:ext cx="111868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V.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Michalakopoulos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“A machine learning-based framework for clustering residential electricity load profiles to enhance demand response programs,”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Energy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361, Art. no. 122943, 2024,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10.1016/j.apenergy.2024.122943.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“Mining energy consumption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 for households in smart grid,”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Emerging Topics in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3, pp. 404–419, 2019,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10.1109/TETC.2017.2692098.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F. Wang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“Association rule mining based quantitative analysis approach of household characteristics impacts on residential electricity consumption patterns,”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Conversion and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171, pp. 839–854, 2018,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10.1016/j.enconman.2018.06.017.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“Data-driven resource planning for virtual power plant integrating demand response customer selection and storage,”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Industrial Informatics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3, pp. 1833–1844, 2022,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10.1109/TII.2021.3068402.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“Smart meters time series clustering for demand response applications in the context of high penetration of renewable energy resources,”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12, Art. no. 3458, 2021,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10.3390/en14123458.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13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hank You Digital Images – Browse 100,325 Stock Photos ...">
            <a:extLst>
              <a:ext uri="{FF2B5EF4-FFF2-40B4-BE49-F238E27FC236}">
                <a16:creationId xmlns:a16="http://schemas.microsoft.com/office/drawing/2014/main" id="{B9A34C01-7A02-8CDE-2C9D-DB81A63D9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5672" y="0"/>
            <a:ext cx="12367672" cy="69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7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1163</Words>
  <Application>Microsoft Office PowerPoint</Application>
  <PresentationFormat>Widescreen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PowerPoint Presentation</vt:lpstr>
      <vt:lpstr>ABSTRACT</vt:lpstr>
      <vt:lpstr>SDG Goals</vt:lpstr>
      <vt:lpstr>PowerPoint Presentation</vt:lpstr>
      <vt:lpstr>PowerPoint Presentation</vt:lpstr>
      <vt:lpstr>LITERATURE REVIEW</vt:lpstr>
      <vt:lpstr>PowerPoint Presentation</vt:lpstr>
      <vt:lpstr>PowerPoint Presentation</vt:lpstr>
      <vt:lpstr>Module 3:-Decision Support &amp; Sustainability Dashboard</vt:lpstr>
      <vt:lpstr>ARCHITECTURE DIAGRAM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kumar reddy</dc:creator>
  <cp:lastModifiedBy>Tanveer Muhammed S</cp:lastModifiedBy>
  <cp:revision>17</cp:revision>
  <dcterms:created xsi:type="dcterms:W3CDTF">2026-04-27T13:27:37Z</dcterms:created>
  <dcterms:modified xsi:type="dcterms:W3CDTF">2026-10-13T04:12:48Z</dcterms:modified>
</cp:coreProperties>
</file>